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b7864ea5f_9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b7864ea5f_9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55" name="Google Shape;55;g3fb7864ea5f_9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7864ea5f_9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3fb7864ea5f_9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68" name="Google Shape;68;g3fb7864ea5f_9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b7864ea5f_9_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fb7864ea5f_9_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92" name="Google Shape;92;g3fb7864ea5f_9_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b7864ea5f_9_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g3fb7864ea5f_9_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117" name="Google Shape;117;g3fb7864ea5f_9_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7864ea5f_0_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g3fb7864ea5f_0_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149" name="Google Shape;149;g3fb7864ea5f_0_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b7864ea5f_9_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3fb7864ea5f_9_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159" name="Google Shape;159;g3fb7864ea5f_9_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b7864ea5f_9_1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fb7864ea5f_9_1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194" name="Google Shape;194;g3fb7864ea5f_9_1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b7864ea5f_9_1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fb7864ea5f_9_1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214" name="Google Shape;214;g3fb7864ea5f_9_1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b7864ea5f_9_1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g3fb7864ea5f_9_1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242" name="Google Shape;242;g3fb7864ea5f_9_1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b7864ea5f_9_1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fb7864ea5f_9_1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272" name="Google Shape;272;g3fb7864ea5f_9_1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b7864ea5f_9_2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fb7864ea5f_9_2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295" name="Google Shape;295;g3fb7864ea5f_9_2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b7864ea5f_9_2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fb7864ea5f_9_2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330" name="Google Shape;330;g3fb7864ea5f_9_2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864ea5f_9_2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g3fb7864ea5f_9_2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361" name="Google Shape;361;g3fb7864ea5f_9_2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b7864ea5f_0_1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g3fb7864ea5f_0_1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387" name="Google Shape;387;g3fb7864ea5f_0_1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b7864ea5f_9_3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g3fb7864ea5f_9_3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398" name="Google Shape;398;g3fb7864ea5f_9_3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b7864ea5f_9_3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g3fb7864ea5f_9_3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ECE Proposal Report supplied by the PHOTON team.</a:t>
            </a:r>
            <a:endParaRPr/>
          </a:p>
        </p:txBody>
      </p:sp>
      <p:sp>
        <p:nvSpPr>
          <p:cNvPr id="424" name="Google Shape;424;g3fb7864ea5f_9_3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 rotWithShape="1">
          <a:blip r:embed="rId3">
            <a:alphaModFix/>
          </a:blip>
          <a:srcRect b="0" l="31359" r="20374" t="0"/>
          <a:stretch/>
        </p:blipFill>
        <p:spPr>
          <a:xfrm>
            <a:off x="5921125" y="0"/>
            <a:ext cx="322287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389432" y="557213"/>
            <a:ext cx="71400" cy="3643200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718044" y="642938"/>
            <a:ext cx="7215300" cy="12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Intelligent Ethernet-to-Fiber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Media Converter</a:t>
            </a:r>
            <a:endParaRPr sz="1100"/>
          </a:p>
        </p:txBody>
      </p:sp>
      <p:sp>
        <p:nvSpPr>
          <p:cNvPr id="60" name="Google Shape;60;p15"/>
          <p:cNvSpPr/>
          <p:nvPr/>
        </p:nvSpPr>
        <p:spPr>
          <a:xfrm>
            <a:off x="732332" y="2007394"/>
            <a:ext cx="7286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with Proactive Fault Detection and Redundant Failover</a:t>
            </a:r>
            <a:endParaRPr sz="1100"/>
          </a:p>
        </p:txBody>
      </p:sp>
      <p:sp>
        <p:nvSpPr>
          <p:cNvPr id="61" name="Google Shape;61;p15"/>
          <p:cNvSpPr/>
          <p:nvPr/>
        </p:nvSpPr>
        <p:spPr>
          <a:xfrm>
            <a:off x="732332" y="2964656"/>
            <a:ext cx="2143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sz="1100"/>
          </a:p>
        </p:txBody>
      </p:sp>
      <p:sp>
        <p:nvSpPr>
          <p:cNvPr id="62" name="Google Shape;62;p15"/>
          <p:cNvSpPr/>
          <p:nvPr/>
        </p:nvSpPr>
        <p:spPr>
          <a:xfrm>
            <a:off x="732332" y="3336131"/>
            <a:ext cx="70008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Madhawi Alharbi  ·  Ethan Su  ·  Auska Wang  ·  Yichi Zhang</a:t>
            </a:r>
            <a:endParaRPr sz="1100"/>
          </a:p>
        </p:txBody>
      </p:sp>
      <p:sp>
        <p:nvSpPr>
          <p:cNvPr id="63" name="Google Shape;63;p15"/>
          <p:cNvSpPr/>
          <p:nvPr/>
        </p:nvSpPr>
        <p:spPr>
          <a:xfrm>
            <a:off x="732332" y="3800475"/>
            <a:ext cx="7000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Dr. Jane Gu  |  Georgia Tech ECE Capstone  |  September 23, 2026</a:t>
            </a:r>
            <a:endParaRPr sz="1100"/>
          </a:p>
        </p:txBody>
      </p:sp>
      <p:sp>
        <p:nvSpPr>
          <p:cNvPr id="64" name="Google Shape;64;p15"/>
          <p:cNvSpPr/>
          <p:nvPr/>
        </p:nvSpPr>
        <p:spPr>
          <a:xfrm>
            <a:off x="7750969" y="4514850"/>
            <a:ext cx="9286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PROPOSAL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sz="1100"/>
          </a:p>
        </p:txBody>
      </p:sp>
      <p:sp>
        <p:nvSpPr>
          <p:cNvPr id="72" name="Google Shape;72;p16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cxnSp>
        <p:nvCxnSpPr>
          <p:cNvPr id="73" name="Google Shape;73;p16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6"/>
          <p:cNvSpPr/>
          <p:nvPr/>
        </p:nvSpPr>
        <p:spPr>
          <a:xfrm>
            <a:off x="500063" y="1107281"/>
            <a:ext cx="5143500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95250" lvl="0" marL="1905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data centers require higher bandwidth and longer transmission distances.</a:t>
            </a:r>
            <a:endParaRPr sz="1100"/>
          </a:p>
          <a:p>
            <a:pPr indent="-95250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Optical fiber offers low loss and immunity to electromagnetic interference.</a:t>
            </a:r>
            <a:endParaRPr sz="1100"/>
          </a:p>
          <a:p>
            <a:pPr indent="-95250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Fiber links may degrade because of contamination, bending, temperature, or aging.</a:t>
            </a:r>
            <a:endParaRPr sz="1100"/>
          </a:p>
          <a:p>
            <a:pPr indent="-95250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Conventional media converters typically respond only after link failure (passive).</a:t>
            </a:r>
            <a:endParaRPr sz="1100"/>
          </a:p>
          <a:p>
            <a:pPr indent="-95250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Earlier detection could reduce packet loss and service interruption.</a:t>
            </a:r>
            <a:endParaRPr sz="1100"/>
          </a:p>
        </p:txBody>
      </p:sp>
      <p:sp>
        <p:nvSpPr>
          <p:cNvPr id="75" name="Google Shape;75;p16"/>
          <p:cNvSpPr/>
          <p:nvPr/>
        </p:nvSpPr>
        <p:spPr>
          <a:xfrm>
            <a:off x="6036469" y="1214438"/>
            <a:ext cx="2214563" cy="750094"/>
          </a:xfrm>
          <a:prstGeom prst="roundRect">
            <a:avLst>
              <a:gd fmla="val 17143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6036469" y="1214438"/>
            <a:ext cx="50006" cy="750094"/>
          </a:xfrm>
          <a:prstGeom prst="rect">
            <a:avLst/>
          </a:prstGeom>
          <a:solidFill>
            <a:srgbClr val="56E39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215063" y="1343025"/>
            <a:ext cx="189309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6E39F"/>
                </a:solidFill>
                <a:latin typeface="Arial"/>
                <a:ea typeface="Arial"/>
                <a:cs typeface="Arial"/>
                <a:sym typeface="Arial"/>
              </a:rPr>
              <a:t>LINK CONDITION</a:t>
            </a:r>
            <a:endParaRPr sz="1100"/>
          </a:p>
        </p:txBody>
      </p:sp>
      <p:sp>
        <p:nvSpPr>
          <p:cNvPr id="78" name="Google Shape;78;p16"/>
          <p:cNvSpPr/>
          <p:nvPr/>
        </p:nvSpPr>
        <p:spPr>
          <a:xfrm>
            <a:off x="6215063" y="1618977"/>
            <a:ext cx="1893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Healthy</a:t>
            </a:r>
            <a:endParaRPr sz="1300"/>
          </a:p>
        </p:txBody>
      </p:sp>
      <p:sp>
        <p:nvSpPr>
          <p:cNvPr id="79" name="Google Shape;79;p16"/>
          <p:cNvSpPr/>
          <p:nvPr/>
        </p:nvSpPr>
        <p:spPr>
          <a:xfrm>
            <a:off x="7000875" y="2028825"/>
            <a:ext cx="271463" cy="342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6036469" y="2428875"/>
            <a:ext cx="2214563" cy="750094"/>
          </a:xfrm>
          <a:prstGeom prst="roundRect">
            <a:avLst>
              <a:gd fmla="val 17143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6036469" y="2428875"/>
            <a:ext cx="50006" cy="75009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215063" y="2557463"/>
            <a:ext cx="189309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C857"/>
                </a:solidFill>
                <a:latin typeface="Arial"/>
                <a:ea typeface="Arial"/>
                <a:cs typeface="Arial"/>
                <a:sym typeface="Arial"/>
              </a:rPr>
              <a:t>WARNING REGION</a:t>
            </a:r>
            <a:endParaRPr sz="1100"/>
          </a:p>
        </p:txBody>
      </p:sp>
      <p:sp>
        <p:nvSpPr>
          <p:cNvPr id="83" name="Google Shape;83;p16"/>
          <p:cNvSpPr/>
          <p:nvPr/>
        </p:nvSpPr>
        <p:spPr>
          <a:xfrm>
            <a:off x="6215063" y="2833414"/>
            <a:ext cx="1893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Degrading</a:t>
            </a:r>
            <a:endParaRPr sz="1300"/>
          </a:p>
        </p:txBody>
      </p:sp>
      <p:sp>
        <p:nvSpPr>
          <p:cNvPr id="84" name="Google Shape;84;p16"/>
          <p:cNvSpPr/>
          <p:nvPr/>
        </p:nvSpPr>
        <p:spPr>
          <a:xfrm>
            <a:off x="7000875" y="3243263"/>
            <a:ext cx="271463" cy="342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6036469" y="3643313"/>
            <a:ext cx="2214563" cy="750094"/>
          </a:xfrm>
          <a:prstGeom prst="roundRect">
            <a:avLst>
              <a:gd fmla="val 17143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6036469" y="3643313"/>
            <a:ext cx="50006" cy="750094"/>
          </a:xfrm>
          <a:prstGeom prst="rect">
            <a:avLst/>
          </a:prstGeom>
          <a:solidFill>
            <a:srgbClr val="FF5D7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6215063" y="3771900"/>
            <a:ext cx="189309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D73"/>
                </a:solidFill>
                <a:latin typeface="Arial"/>
                <a:ea typeface="Arial"/>
                <a:cs typeface="Arial"/>
                <a:sym typeface="Arial"/>
              </a:rPr>
              <a:t>CONVENTIONAL RESPONSE</a:t>
            </a:r>
            <a:endParaRPr sz="1100"/>
          </a:p>
        </p:txBody>
      </p:sp>
      <p:sp>
        <p:nvSpPr>
          <p:cNvPr id="88" name="Google Shape;88;p16"/>
          <p:cNvSpPr/>
          <p:nvPr/>
        </p:nvSpPr>
        <p:spPr>
          <a:xfrm>
            <a:off x="6215063" y="4094696"/>
            <a:ext cx="1893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 failure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1100"/>
          </a:p>
        </p:txBody>
      </p:sp>
      <p:sp>
        <p:nvSpPr>
          <p:cNvPr id="96" name="Google Shape;96;p17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cxnSp>
        <p:nvCxnSpPr>
          <p:cNvPr id="97" name="Google Shape;97;p17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7"/>
          <p:cNvSpPr/>
          <p:nvPr/>
        </p:nvSpPr>
        <p:spPr>
          <a:xfrm>
            <a:off x="642938" y="1500188"/>
            <a:ext cx="2143125" cy="1571625"/>
          </a:xfrm>
          <a:prstGeom prst="roundRect">
            <a:avLst>
              <a:gd fmla="val 8182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642938" y="1500188"/>
            <a:ext cx="50006" cy="1571625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21531" y="1628775"/>
            <a:ext cx="1821656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sz="1100"/>
          </a:p>
        </p:txBody>
      </p:sp>
      <p:sp>
        <p:nvSpPr>
          <p:cNvPr id="101" name="Google Shape;101;p17"/>
          <p:cNvSpPr/>
          <p:nvPr/>
        </p:nvSpPr>
        <p:spPr>
          <a:xfrm>
            <a:off x="821531" y="1935956"/>
            <a:ext cx="1821656" cy="10144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Continuously collect SFP diagnostics and status information.</a:t>
            </a:r>
            <a:endParaRPr sz="1100"/>
          </a:p>
        </p:txBody>
      </p:sp>
      <p:sp>
        <p:nvSpPr>
          <p:cNvPr id="102" name="Google Shape;102;p17"/>
          <p:cNvSpPr/>
          <p:nvPr/>
        </p:nvSpPr>
        <p:spPr>
          <a:xfrm>
            <a:off x="2836069" y="2178844"/>
            <a:ext cx="442913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357563" y="1500188"/>
            <a:ext cx="2143125" cy="1571625"/>
          </a:xfrm>
          <a:prstGeom prst="roundRect">
            <a:avLst>
              <a:gd fmla="val 8182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3357563" y="1500188"/>
            <a:ext cx="50006" cy="1571625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3536156" y="1628775"/>
            <a:ext cx="1821656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sz="1100"/>
          </a:p>
        </p:txBody>
      </p:sp>
      <p:sp>
        <p:nvSpPr>
          <p:cNvPr id="106" name="Google Shape;106;p17"/>
          <p:cNvSpPr/>
          <p:nvPr/>
        </p:nvSpPr>
        <p:spPr>
          <a:xfrm>
            <a:off x="3536156" y="1935956"/>
            <a:ext cx="1821656" cy="10144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Identify sustained optical degradation before loss of signal.</a:t>
            </a:r>
            <a:endParaRPr sz="1100"/>
          </a:p>
        </p:txBody>
      </p:sp>
      <p:sp>
        <p:nvSpPr>
          <p:cNvPr id="107" name="Google Shape;107;p17"/>
          <p:cNvSpPr/>
          <p:nvPr/>
        </p:nvSpPr>
        <p:spPr>
          <a:xfrm>
            <a:off x="5550694" y="2178844"/>
            <a:ext cx="442913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6072188" y="1500188"/>
            <a:ext cx="2143125" cy="1571625"/>
          </a:xfrm>
          <a:prstGeom prst="roundRect">
            <a:avLst>
              <a:gd fmla="val 8182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6072188" y="1500188"/>
            <a:ext cx="50006" cy="1571625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6250781" y="1628775"/>
            <a:ext cx="1821656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 sz="1100"/>
          </a:p>
        </p:txBody>
      </p:sp>
      <p:sp>
        <p:nvSpPr>
          <p:cNvPr id="111" name="Google Shape;111;p17"/>
          <p:cNvSpPr/>
          <p:nvPr/>
        </p:nvSpPr>
        <p:spPr>
          <a:xfrm>
            <a:off x="6250781" y="1935956"/>
            <a:ext cx="1821656" cy="10144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Coordinate both boards and transfer traffic to the backup path.</a:t>
            </a:r>
            <a:endParaRPr sz="1100"/>
          </a:p>
        </p:txBody>
      </p:sp>
      <p:sp>
        <p:nvSpPr>
          <p:cNvPr id="112" name="Google Shape;112;p17"/>
          <p:cNvSpPr/>
          <p:nvPr/>
        </p:nvSpPr>
        <p:spPr>
          <a:xfrm>
            <a:off x="1071563" y="3607594"/>
            <a:ext cx="7000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identical boards  ·  Primary and backup 1000BASE-SX channels</a:t>
            </a:r>
            <a:endParaRPr sz="1100"/>
          </a:p>
        </p:txBody>
      </p:sp>
      <p:sp>
        <p:nvSpPr>
          <p:cNvPr id="113" name="Google Shape;113;p17"/>
          <p:cNvSpPr/>
          <p:nvPr/>
        </p:nvSpPr>
        <p:spPr>
          <a:xfrm>
            <a:off x="1071563" y="4107656"/>
            <a:ext cx="7000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Laboratory-scale proof of concept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sz="1100"/>
          </a:p>
        </p:txBody>
      </p:sp>
      <p:sp>
        <p:nvSpPr>
          <p:cNvPr id="121" name="Google Shape;121;p18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cxnSp>
        <p:nvCxnSpPr>
          <p:cNvPr id="122" name="Google Shape;122;p18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8"/>
          <p:cNvSpPr/>
          <p:nvPr/>
        </p:nvSpPr>
        <p:spPr>
          <a:xfrm>
            <a:off x="250031" y="1964531"/>
            <a:ext cx="1357312" cy="857250"/>
          </a:xfrm>
          <a:prstGeom prst="roundRect">
            <a:avLst>
              <a:gd fmla="val 1500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250031" y="1964531"/>
            <a:ext cx="50006" cy="857250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428625" y="2093119"/>
            <a:ext cx="1035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LAPTOP A</a:t>
            </a:r>
            <a:endParaRPr sz="1100"/>
          </a:p>
        </p:txBody>
      </p:sp>
      <p:sp>
        <p:nvSpPr>
          <p:cNvPr id="126" name="Google Shape;126;p18"/>
          <p:cNvSpPr/>
          <p:nvPr/>
        </p:nvSpPr>
        <p:spPr>
          <a:xfrm>
            <a:off x="428625" y="2400300"/>
            <a:ext cx="1035844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1000BASE-T</a:t>
            </a:r>
            <a:endParaRPr sz="1100"/>
          </a:p>
        </p:txBody>
      </p:sp>
      <p:sp>
        <p:nvSpPr>
          <p:cNvPr id="127" name="Google Shape;127;p18"/>
          <p:cNvSpPr/>
          <p:nvPr/>
        </p:nvSpPr>
        <p:spPr>
          <a:xfrm>
            <a:off x="1700213" y="2271713"/>
            <a:ext cx="42862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2214563" y="1464469"/>
            <a:ext cx="1571625" cy="1857375"/>
          </a:xfrm>
          <a:prstGeom prst="roundRect">
            <a:avLst>
              <a:gd fmla="val 8182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2214563" y="1464469"/>
            <a:ext cx="50006" cy="1857375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2393156" y="1593056"/>
            <a:ext cx="1250156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BOARD A</a:t>
            </a:r>
            <a:endParaRPr sz="1100"/>
          </a:p>
        </p:txBody>
      </p:sp>
      <p:sp>
        <p:nvSpPr>
          <p:cNvPr id="131" name="Google Shape;131;p18"/>
          <p:cNvSpPr/>
          <p:nvPr/>
        </p:nvSpPr>
        <p:spPr>
          <a:xfrm>
            <a:off x="2286000" y="1900250"/>
            <a:ext cx="14286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LAN96455F</a:t>
            </a:r>
            <a:endParaRPr sz="1100"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STM32N6</a:t>
            </a:r>
            <a:endParaRPr sz="1100"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× SFP</a:t>
            </a:r>
            <a:endParaRPr sz="1100"/>
          </a:p>
        </p:txBody>
      </p:sp>
      <p:sp>
        <p:nvSpPr>
          <p:cNvPr id="132" name="Google Shape;132;p18"/>
          <p:cNvSpPr/>
          <p:nvPr/>
        </p:nvSpPr>
        <p:spPr>
          <a:xfrm>
            <a:off x="5357813" y="1464469"/>
            <a:ext cx="1571625" cy="1857375"/>
          </a:xfrm>
          <a:prstGeom prst="roundRect">
            <a:avLst>
              <a:gd fmla="val 8182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5357813" y="1464469"/>
            <a:ext cx="50006" cy="1857375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5536406" y="1593056"/>
            <a:ext cx="1250156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BOARD B</a:t>
            </a:r>
            <a:endParaRPr sz="1100"/>
          </a:p>
        </p:txBody>
      </p:sp>
      <p:sp>
        <p:nvSpPr>
          <p:cNvPr id="135" name="Google Shape;135;p18"/>
          <p:cNvSpPr/>
          <p:nvPr/>
        </p:nvSpPr>
        <p:spPr>
          <a:xfrm>
            <a:off x="7015163" y="2271713"/>
            <a:ext cx="42862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7536656" y="1964531"/>
            <a:ext cx="1357313" cy="857250"/>
          </a:xfrm>
          <a:prstGeom prst="roundRect">
            <a:avLst>
              <a:gd fmla="val 1500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7536656" y="1964531"/>
            <a:ext cx="50006" cy="857250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7715250" y="2093119"/>
            <a:ext cx="1035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LAPTOP B</a:t>
            </a:r>
            <a:endParaRPr sz="1100"/>
          </a:p>
        </p:txBody>
      </p:sp>
      <p:sp>
        <p:nvSpPr>
          <p:cNvPr id="139" name="Google Shape;139;p18"/>
          <p:cNvSpPr/>
          <p:nvPr/>
        </p:nvSpPr>
        <p:spPr>
          <a:xfrm>
            <a:off x="7715250" y="2400300"/>
            <a:ext cx="1035844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1000BASE-T</a:t>
            </a:r>
            <a:endParaRPr sz="1100"/>
          </a:p>
        </p:txBody>
      </p:sp>
      <p:cxnSp>
        <p:nvCxnSpPr>
          <p:cNvPr id="140" name="Google Shape;140;p18"/>
          <p:cNvCxnSpPr/>
          <p:nvPr/>
        </p:nvCxnSpPr>
        <p:spPr>
          <a:xfrm>
            <a:off x="3800475" y="1885950"/>
            <a:ext cx="1543050" cy="0"/>
          </a:xfrm>
          <a:prstGeom prst="straightConnector1">
            <a:avLst/>
          </a:prstGeom>
          <a:noFill/>
          <a:ln cap="flat" cmpd="sng" w="19050">
            <a:solidFill>
              <a:srgbClr val="39D7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8"/>
          <p:cNvCxnSpPr/>
          <p:nvPr/>
        </p:nvCxnSpPr>
        <p:spPr>
          <a:xfrm>
            <a:off x="3800475" y="2857500"/>
            <a:ext cx="1543050" cy="0"/>
          </a:xfrm>
          <a:prstGeom prst="straightConnector1">
            <a:avLst/>
          </a:prstGeom>
          <a:noFill/>
          <a:ln cap="flat" cmpd="sng" w="19050">
            <a:solidFill>
              <a:srgbClr val="8E9B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18"/>
          <p:cNvSpPr/>
          <p:nvPr/>
        </p:nvSpPr>
        <p:spPr>
          <a:xfrm>
            <a:off x="3857625" y="1600200"/>
            <a:ext cx="1428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PRIMARY 1000BASE-SX</a:t>
            </a:r>
            <a:endParaRPr sz="1100"/>
          </a:p>
        </p:txBody>
      </p:sp>
      <p:sp>
        <p:nvSpPr>
          <p:cNvPr id="143" name="Google Shape;143;p18"/>
          <p:cNvSpPr/>
          <p:nvPr/>
        </p:nvSpPr>
        <p:spPr>
          <a:xfrm>
            <a:off x="3857625" y="2928938"/>
            <a:ext cx="1428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BACKUP 1000BASE-SX</a:t>
            </a:r>
            <a:endParaRPr sz="1100"/>
          </a:p>
        </p:txBody>
      </p:sp>
      <p:sp>
        <p:nvSpPr>
          <p:cNvPr id="144" name="Google Shape;144;p18"/>
          <p:cNvSpPr/>
          <p:nvPr/>
        </p:nvSpPr>
        <p:spPr>
          <a:xfrm>
            <a:off x="1071563" y="3964781"/>
            <a:ext cx="7000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User traffic is forwarded by the Ethernet switch and does not pass through the STM32N6.</a:t>
            </a:r>
            <a:endParaRPr sz="1100"/>
          </a:p>
        </p:txBody>
      </p:sp>
      <p:sp>
        <p:nvSpPr>
          <p:cNvPr id="145" name="Google Shape;145;p18"/>
          <p:cNvSpPr/>
          <p:nvPr/>
        </p:nvSpPr>
        <p:spPr>
          <a:xfrm>
            <a:off x="5465050" y="1921650"/>
            <a:ext cx="14286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LAN96455F</a:t>
            </a:r>
            <a:endParaRPr sz="1100"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STM32N6</a:t>
            </a:r>
            <a:endParaRPr sz="1100"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× SFP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385763" y="321469"/>
            <a:ext cx="64200" cy="328500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585788" y="271463"/>
            <a:ext cx="7715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sz="1100"/>
          </a:p>
        </p:txBody>
      </p:sp>
      <p:sp>
        <p:nvSpPr>
          <p:cNvPr id="153" name="Google Shape;153;p19"/>
          <p:cNvSpPr/>
          <p:nvPr/>
        </p:nvSpPr>
        <p:spPr>
          <a:xfrm>
            <a:off x="8429625" y="371475"/>
            <a:ext cx="393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cxnSp>
        <p:nvCxnSpPr>
          <p:cNvPr id="154" name="Google Shape;154;p19"/>
          <p:cNvCxnSpPr/>
          <p:nvPr/>
        </p:nvCxnSpPr>
        <p:spPr>
          <a:xfrm>
            <a:off x="385763" y="800100"/>
            <a:ext cx="8372400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1131" r="1375" t="0"/>
          <a:stretch/>
        </p:blipFill>
        <p:spPr>
          <a:xfrm>
            <a:off x="166662" y="1375350"/>
            <a:ext cx="8810624" cy="27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Hardware Design</a:t>
            </a:r>
            <a:endParaRPr sz="1100"/>
          </a:p>
        </p:txBody>
      </p:sp>
      <p:sp>
        <p:nvSpPr>
          <p:cNvPr id="163" name="Google Shape;163;p20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cxnSp>
        <p:nvCxnSpPr>
          <p:cNvPr id="164" name="Google Shape;164;p20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500063" y="1178719"/>
            <a:ext cx="2500313" cy="1321594"/>
          </a:xfrm>
          <a:prstGeom prst="roundRect">
            <a:avLst>
              <a:gd fmla="val 973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500063" y="1178719"/>
            <a:ext cx="50006" cy="1321594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678656" y="1307306"/>
            <a:ext cx="2178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LAN96455F</a:t>
            </a:r>
            <a:endParaRPr sz="1100"/>
          </a:p>
        </p:txBody>
      </p:sp>
      <p:sp>
        <p:nvSpPr>
          <p:cNvPr id="168" name="Google Shape;168;p20"/>
          <p:cNvSpPr/>
          <p:nvPr/>
        </p:nvSpPr>
        <p:spPr>
          <a:xfrm>
            <a:off x="678656" y="1614488"/>
            <a:ext cx="2178844" cy="7643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Ethernet switching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path control</a:t>
            </a:r>
            <a:endParaRPr sz="1100"/>
          </a:p>
        </p:txBody>
      </p:sp>
      <p:sp>
        <p:nvSpPr>
          <p:cNvPr id="169" name="Google Shape;169;p20"/>
          <p:cNvSpPr/>
          <p:nvPr/>
        </p:nvSpPr>
        <p:spPr>
          <a:xfrm>
            <a:off x="3321844" y="1178719"/>
            <a:ext cx="2500313" cy="1321594"/>
          </a:xfrm>
          <a:prstGeom prst="roundRect">
            <a:avLst>
              <a:gd fmla="val 973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3321844" y="1178719"/>
            <a:ext cx="50006" cy="1321594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3500438" y="1307306"/>
            <a:ext cx="2178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STM32N6</a:t>
            </a:r>
            <a:endParaRPr sz="1100"/>
          </a:p>
        </p:txBody>
      </p:sp>
      <p:sp>
        <p:nvSpPr>
          <p:cNvPr id="172" name="Google Shape;172;p20"/>
          <p:cNvSpPr/>
          <p:nvPr/>
        </p:nvSpPr>
        <p:spPr>
          <a:xfrm>
            <a:off x="3500438" y="1614488"/>
            <a:ext cx="2178844" cy="7643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Monitoring, communication,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failover management</a:t>
            </a:r>
            <a:endParaRPr sz="1100"/>
          </a:p>
        </p:txBody>
      </p:sp>
      <p:sp>
        <p:nvSpPr>
          <p:cNvPr id="173" name="Google Shape;173;p20"/>
          <p:cNvSpPr/>
          <p:nvPr/>
        </p:nvSpPr>
        <p:spPr>
          <a:xfrm>
            <a:off x="6143625" y="1178719"/>
            <a:ext cx="2500313" cy="1321594"/>
          </a:xfrm>
          <a:prstGeom prst="roundRect">
            <a:avLst>
              <a:gd fmla="val 973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6143625" y="1178719"/>
            <a:ext cx="50006" cy="1321594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6322219" y="1307306"/>
            <a:ext cx="2178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FTLF8519P3BNL</a:t>
            </a:r>
            <a:endParaRPr sz="1100"/>
          </a:p>
        </p:txBody>
      </p:sp>
      <p:sp>
        <p:nvSpPr>
          <p:cNvPr id="176" name="Google Shape;176;p20"/>
          <p:cNvSpPr/>
          <p:nvPr/>
        </p:nvSpPr>
        <p:spPr>
          <a:xfrm>
            <a:off x="6322219" y="1614488"/>
            <a:ext cx="2178844" cy="7643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1000BASE-SX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optical transceiver</a:t>
            </a:r>
            <a:endParaRPr sz="1100"/>
          </a:p>
        </p:txBody>
      </p:sp>
      <p:sp>
        <p:nvSpPr>
          <p:cNvPr id="177" name="Google Shape;177;p20"/>
          <p:cNvSpPr/>
          <p:nvPr/>
        </p:nvSpPr>
        <p:spPr>
          <a:xfrm>
            <a:off x="1214438" y="3000375"/>
            <a:ext cx="1928813" cy="1000125"/>
          </a:xfrm>
          <a:prstGeom prst="roundRect">
            <a:avLst>
              <a:gd fmla="val 12857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1214438" y="3000375"/>
            <a:ext cx="50006" cy="1000125"/>
          </a:xfrm>
          <a:prstGeom prst="rect">
            <a:avLst/>
          </a:prstGeom>
          <a:solidFill>
            <a:srgbClr val="A98B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1393031" y="3128963"/>
            <a:ext cx="16073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rPr>
              <a:t>I²C</a:t>
            </a:r>
            <a:endParaRPr sz="1100"/>
          </a:p>
        </p:txBody>
      </p:sp>
      <p:sp>
        <p:nvSpPr>
          <p:cNvPr id="180" name="Google Shape;180;p20"/>
          <p:cNvSpPr/>
          <p:nvPr/>
        </p:nvSpPr>
        <p:spPr>
          <a:xfrm>
            <a:off x="1393031" y="3436144"/>
            <a:ext cx="16073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SFP diagnostic acquisition</a:t>
            </a:r>
            <a:endParaRPr sz="1100"/>
          </a:p>
        </p:txBody>
      </p:sp>
      <p:sp>
        <p:nvSpPr>
          <p:cNvPr id="181" name="Google Shape;181;p20"/>
          <p:cNvSpPr/>
          <p:nvPr/>
        </p:nvSpPr>
        <p:spPr>
          <a:xfrm>
            <a:off x="3607594" y="3000375"/>
            <a:ext cx="1928813" cy="1000125"/>
          </a:xfrm>
          <a:prstGeom prst="roundRect">
            <a:avLst>
              <a:gd fmla="val 12857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3607594" y="3000375"/>
            <a:ext cx="50006" cy="1000125"/>
          </a:xfrm>
          <a:prstGeom prst="rect">
            <a:avLst/>
          </a:prstGeom>
          <a:solidFill>
            <a:srgbClr val="A98B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3786188" y="3128963"/>
            <a:ext cx="16073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rPr>
              <a:t>SPI</a:t>
            </a:r>
            <a:endParaRPr sz="1100"/>
          </a:p>
        </p:txBody>
      </p:sp>
      <p:sp>
        <p:nvSpPr>
          <p:cNvPr id="184" name="Google Shape;184;p20"/>
          <p:cNvSpPr/>
          <p:nvPr/>
        </p:nvSpPr>
        <p:spPr>
          <a:xfrm>
            <a:off x="3786188" y="3436144"/>
            <a:ext cx="16073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Switch configuration and monitoring</a:t>
            </a:r>
            <a:endParaRPr sz="1100"/>
          </a:p>
        </p:txBody>
      </p:sp>
      <p:sp>
        <p:nvSpPr>
          <p:cNvPr id="185" name="Google Shape;185;p20"/>
          <p:cNvSpPr/>
          <p:nvPr/>
        </p:nvSpPr>
        <p:spPr>
          <a:xfrm>
            <a:off x="6000750" y="3000375"/>
            <a:ext cx="1928813" cy="1000125"/>
          </a:xfrm>
          <a:prstGeom prst="roundRect">
            <a:avLst>
              <a:gd fmla="val 12857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6000750" y="3000375"/>
            <a:ext cx="50006" cy="1000125"/>
          </a:xfrm>
          <a:prstGeom prst="rect">
            <a:avLst/>
          </a:prstGeom>
          <a:solidFill>
            <a:srgbClr val="A98B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6179344" y="3128963"/>
            <a:ext cx="16073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rPr>
              <a:t>RGMII</a:t>
            </a:r>
            <a:endParaRPr sz="1100"/>
          </a:p>
        </p:txBody>
      </p:sp>
      <p:sp>
        <p:nvSpPr>
          <p:cNvPr id="188" name="Google Shape;188;p20"/>
          <p:cNvSpPr/>
          <p:nvPr/>
        </p:nvSpPr>
        <p:spPr>
          <a:xfrm>
            <a:off x="6179344" y="3436144"/>
            <a:ext cx="16073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Management Ethernet interface</a:t>
            </a:r>
            <a:endParaRPr sz="1100"/>
          </a:p>
        </p:txBody>
      </p:sp>
      <p:sp>
        <p:nvSpPr>
          <p:cNvPr id="189" name="Google Shape;189;p20"/>
          <p:cNvSpPr txBox="1"/>
          <p:nvPr/>
        </p:nvSpPr>
        <p:spPr>
          <a:xfrm>
            <a:off x="316975" y="855246"/>
            <a:ext cx="2168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</a:t>
            </a:r>
            <a:r>
              <a:rPr lang="en">
                <a:solidFill>
                  <a:schemeClr val="lt1"/>
                </a:solidFill>
              </a:rPr>
              <a:t>ardware: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04920" y="2665100"/>
            <a:ext cx="2168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Protocols</a:t>
            </a:r>
            <a:r>
              <a:rPr lang="en">
                <a:solidFill>
                  <a:schemeClr val="lt1"/>
                </a:solidFill>
              </a:rPr>
              <a:t>: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Firmware Architecture</a:t>
            </a:r>
            <a:endParaRPr sz="1100"/>
          </a:p>
        </p:txBody>
      </p:sp>
      <p:sp>
        <p:nvSpPr>
          <p:cNvPr id="198" name="Google Shape;198;p21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cxnSp>
        <p:nvCxnSpPr>
          <p:cNvPr id="199" name="Google Shape;199;p21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1"/>
          <p:cNvSpPr/>
          <p:nvPr/>
        </p:nvSpPr>
        <p:spPr>
          <a:xfrm>
            <a:off x="1714500" y="1143000"/>
            <a:ext cx="5715000" cy="414338"/>
          </a:xfrm>
          <a:prstGeom prst="roundRect">
            <a:avLst>
              <a:gd fmla="val 24138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1893094" y="1193006"/>
            <a:ext cx="535781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 Logging and Serial Status</a:t>
            </a:r>
            <a:endParaRPr sz="1100"/>
          </a:p>
        </p:txBody>
      </p:sp>
      <p:sp>
        <p:nvSpPr>
          <p:cNvPr id="202" name="Google Shape;202;p21"/>
          <p:cNvSpPr/>
          <p:nvPr/>
        </p:nvSpPr>
        <p:spPr>
          <a:xfrm>
            <a:off x="1714500" y="1714500"/>
            <a:ext cx="5715000" cy="414338"/>
          </a:xfrm>
          <a:prstGeom prst="roundRect">
            <a:avLst>
              <a:gd fmla="val 24138" name="adj"/>
            </a:avLst>
          </a:prstGeom>
          <a:solidFill>
            <a:srgbClr val="173A48"/>
          </a:solidFill>
          <a:ln cap="flat" cmpd="sng" w="19050">
            <a:solidFill>
              <a:srgbClr val="39D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1893094" y="1764506"/>
            <a:ext cx="535781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Coordinated Failover State Machine</a:t>
            </a:r>
            <a:endParaRPr sz="1100"/>
          </a:p>
        </p:txBody>
      </p:sp>
      <p:sp>
        <p:nvSpPr>
          <p:cNvPr id="204" name="Google Shape;204;p21"/>
          <p:cNvSpPr/>
          <p:nvPr/>
        </p:nvSpPr>
        <p:spPr>
          <a:xfrm>
            <a:off x="1714500" y="2286000"/>
            <a:ext cx="5715000" cy="414338"/>
          </a:xfrm>
          <a:prstGeom prst="roundRect">
            <a:avLst>
              <a:gd fmla="val 24138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1893094" y="2336006"/>
            <a:ext cx="535781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Link-Health Assessment</a:t>
            </a:r>
            <a:endParaRPr sz="1100"/>
          </a:p>
        </p:txBody>
      </p:sp>
      <p:sp>
        <p:nvSpPr>
          <p:cNvPr id="206" name="Google Shape;206;p21"/>
          <p:cNvSpPr/>
          <p:nvPr/>
        </p:nvSpPr>
        <p:spPr>
          <a:xfrm>
            <a:off x="1714500" y="2857500"/>
            <a:ext cx="5715000" cy="414338"/>
          </a:xfrm>
          <a:prstGeom prst="roundRect">
            <a:avLst>
              <a:gd fmla="val 24138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1893094" y="2907506"/>
            <a:ext cx="535781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Telemetry and Board-to-Board Communication</a:t>
            </a:r>
            <a:endParaRPr sz="1100"/>
          </a:p>
        </p:txBody>
      </p:sp>
      <p:sp>
        <p:nvSpPr>
          <p:cNvPr id="208" name="Google Shape;208;p21"/>
          <p:cNvSpPr/>
          <p:nvPr/>
        </p:nvSpPr>
        <p:spPr>
          <a:xfrm>
            <a:off x="1714500" y="3429000"/>
            <a:ext cx="5715000" cy="414338"/>
          </a:xfrm>
          <a:prstGeom prst="roundRect">
            <a:avLst>
              <a:gd fmla="val 24138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1893094" y="3479006"/>
            <a:ext cx="535781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I²C · SPI · RGMII · GPIO Drivers</a:t>
            </a:r>
            <a:endParaRPr sz="1100"/>
          </a:p>
        </p:txBody>
      </p:sp>
      <p:sp>
        <p:nvSpPr>
          <p:cNvPr id="210" name="Google Shape;210;p21"/>
          <p:cNvSpPr/>
          <p:nvPr/>
        </p:nvSpPr>
        <p:spPr>
          <a:xfrm>
            <a:off x="1857375" y="4214813"/>
            <a:ext cx="542925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User traffic remains in dedicated switching hardware.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SFP Health Monitoring</a:t>
            </a:r>
            <a:endParaRPr sz="1100"/>
          </a:p>
        </p:txBody>
      </p:sp>
      <p:sp>
        <p:nvSpPr>
          <p:cNvPr id="218" name="Google Shape;218;p22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  <p:cxnSp>
        <p:nvCxnSpPr>
          <p:cNvPr id="219" name="Google Shape;219;p22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22"/>
          <p:cNvSpPr/>
          <p:nvPr/>
        </p:nvSpPr>
        <p:spPr>
          <a:xfrm>
            <a:off x="500063" y="1178719"/>
            <a:ext cx="2500313" cy="1214438"/>
          </a:xfrm>
          <a:prstGeom prst="roundRect">
            <a:avLst>
              <a:gd fmla="val 10588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00063" y="1178719"/>
            <a:ext cx="50006" cy="1214438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678656" y="1307306"/>
            <a:ext cx="2178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OPTICAL</a:t>
            </a:r>
            <a:endParaRPr sz="1100"/>
          </a:p>
        </p:txBody>
      </p:sp>
      <p:sp>
        <p:nvSpPr>
          <p:cNvPr id="223" name="Google Shape;223;p22"/>
          <p:cNvSpPr/>
          <p:nvPr/>
        </p:nvSpPr>
        <p:spPr>
          <a:xfrm>
            <a:off x="678656" y="1614488"/>
            <a:ext cx="2178844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Received optical power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Transmitted optical power</a:t>
            </a:r>
            <a:endParaRPr sz="1100"/>
          </a:p>
        </p:txBody>
      </p:sp>
      <p:sp>
        <p:nvSpPr>
          <p:cNvPr id="224" name="Google Shape;224;p22"/>
          <p:cNvSpPr/>
          <p:nvPr/>
        </p:nvSpPr>
        <p:spPr>
          <a:xfrm>
            <a:off x="3321844" y="1178719"/>
            <a:ext cx="2500313" cy="1214438"/>
          </a:xfrm>
          <a:prstGeom prst="roundRect">
            <a:avLst>
              <a:gd fmla="val 10588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3321844" y="1178719"/>
            <a:ext cx="50006" cy="1214438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3500438" y="1307306"/>
            <a:ext cx="2178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sz="1100"/>
          </a:p>
        </p:txBody>
      </p:sp>
      <p:sp>
        <p:nvSpPr>
          <p:cNvPr id="227" name="Google Shape;227;p22"/>
          <p:cNvSpPr/>
          <p:nvPr/>
        </p:nvSpPr>
        <p:spPr>
          <a:xfrm>
            <a:off x="3500438" y="1614488"/>
            <a:ext cx="2178844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Supply voltage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Laser-bias current</a:t>
            </a:r>
            <a:endParaRPr sz="1100"/>
          </a:p>
        </p:txBody>
      </p:sp>
      <p:sp>
        <p:nvSpPr>
          <p:cNvPr id="228" name="Google Shape;228;p22"/>
          <p:cNvSpPr/>
          <p:nvPr/>
        </p:nvSpPr>
        <p:spPr>
          <a:xfrm>
            <a:off x="6143625" y="1178719"/>
            <a:ext cx="2500313" cy="1214438"/>
          </a:xfrm>
          <a:prstGeom prst="roundRect">
            <a:avLst>
              <a:gd fmla="val 10588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6143625" y="1178719"/>
            <a:ext cx="50006" cy="1214438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6322219" y="1307306"/>
            <a:ext cx="2178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1100"/>
          </a:p>
        </p:txBody>
      </p:sp>
      <p:sp>
        <p:nvSpPr>
          <p:cNvPr id="231" name="Google Shape;231;p22"/>
          <p:cNvSpPr/>
          <p:nvPr/>
        </p:nvSpPr>
        <p:spPr>
          <a:xfrm>
            <a:off x="6322219" y="1614488"/>
            <a:ext cx="2178844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Module presence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Loss of signal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Transmitter fault</a:t>
            </a:r>
            <a:endParaRPr sz="1100"/>
          </a:p>
        </p:txBody>
      </p:sp>
      <p:sp>
        <p:nvSpPr>
          <p:cNvPr id="232" name="Google Shape;232;p22"/>
          <p:cNvSpPr/>
          <p:nvPr/>
        </p:nvSpPr>
        <p:spPr>
          <a:xfrm>
            <a:off x="1035844" y="2928938"/>
            <a:ext cx="70723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Each record includes source, acquisition time, and validity.</a:t>
            </a:r>
            <a:endParaRPr sz="1100"/>
          </a:p>
        </p:txBody>
      </p:sp>
      <p:sp>
        <p:nvSpPr>
          <p:cNvPr id="233" name="Google Shape;233;p22"/>
          <p:cNvSpPr/>
          <p:nvPr/>
        </p:nvSpPr>
        <p:spPr>
          <a:xfrm>
            <a:off x="1857375" y="3500438"/>
            <a:ext cx="2214563" cy="1143000"/>
          </a:xfrm>
          <a:prstGeom prst="roundRect">
            <a:avLst>
              <a:gd fmla="val 1125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1964531" y="3643313"/>
            <a:ext cx="20002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≥ 1 Hz</a:t>
            </a:r>
            <a:endParaRPr sz="1100"/>
          </a:p>
        </p:txBody>
      </p:sp>
      <p:sp>
        <p:nvSpPr>
          <p:cNvPr id="235" name="Google Shape;235;p22"/>
          <p:cNvSpPr/>
          <p:nvPr/>
        </p:nvSpPr>
        <p:spPr>
          <a:xfrm>
            <a:off x="1985963" y="4200525"/>
            <a:ext cx="1957388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Complete local update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for both SFP modules</a:t>
            </a:r>
            <a:endParaRPr sz="1200"/>
          </a:p>
        </p:txBody>
      </p:sp>
      <p:sp>
        <p:nvSpPr>
          <p:cNvPr id="236" name="Google Shape;236;p22"/>
          <p:cNvSpPr/>
          <p:nvPr/>
        </p:nvSpPr>
        <p:spPr>
          <a:xfrm>
            <a:off x="5072063" y="3500438"/>
            <a:ext cx="2214563" cy="1143000"/>
          </a:xfrm>
          <a:prstGeom prst="roundRect">
            <a:avLst>
              <a:gd fmla="val 1125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179219" y="3643313"/>
            <a:ext cx="20002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2 ENDS</a:t>
            </a:r>
            <a:endParaRPr sz="1100"/>
          </a:p>
        </p:txBody>
      </p:sp>
      <p:sp>
        <p:nvSpPr>
          <p:cNvPr id="238" name="Google Shape;238;p22"/>
          <p:cNvSpPr/>
          <p:nvPr/>
        </p:nvSpPr>
        <p:spPr>
          <a:xfrm>
            <a:off x="5200650" y="4200525"/>
            <a:ext cx="1957388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Channel health uses data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from both boards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Proactive Failover Logic</a:t>
            </a:r>
            <a:endParaRPr sz="1100"/>
          </a:p>
        </p:txBody>
      </p:sp>
      <p:sp>
        <p:nvSpPr>
          <p:cNvPr id="246" name="Google Shape;246;p23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  <p:cxnSp>
        <p:nvCxnSpPr>
          <p:cNvPr id="247" name="Google Shape;247;p23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23"/>
          <p:cNvSpPr/>
          <p:nvPr/>
        </p:nvSpPr>
        <p:spPr>
          <a:xfrm>
            <a:off x="321469" y="1964531"/>
            <a:ext cx="1143000" cy="785813"/>
          </a:xfrm>
          <a:prstGeom prst="roundRect">
            <a:avLst>
              <a:gd fmla="val 1454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407194" y="2107406"/>
            <a:ext cx="9715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</a:t>
            </a:r>
            <a:endParaRPr sz="1100"/>
          </a:p>
        </p:txBody>
      </p:sp>
      <p:sp>
        <p:nvSpPr>
          <p:cNvPr id="250" name="Google Shape;250;p23"/>
          <p:cNvSpPr/>
          <p:nvPr/>
        </p:nvSpPr>
        <p:spPr>
          <a:xfrm>
            <a:off x="1507331" y="2235994"/>
            <a:ext cx="228600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1771650" y="1964531"/>
            <a:ext cx="1143000" cy="785813"/>
          </a:xfrm>
          <a:prstGeom prst="roundRect">
            <a:avLst>
              <a:gd fmla="val 1454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1857375" y="2107406"/>
            <a:ext cx="9715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Threshold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Crossed</a:t>
            </a:r>
            <a:endParaRPr sz="1100"/>
          </a:p>
        </p:txBody>
      </p:sp>
      <p:sp>
        <p:nvSpPr>
          <p:cNvPr id="253" name="Google Shape;253;p23"/>
          <p:cNvSpPr/>
          <p:nvPr/>
        </p:nvSpPr>
        <p:spPr>
          <a:xfrm>
            <a:off x="2957513" y="2235994"/>
            <a:ext cx="228600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3221831" y="1964531"/>
            <a:ext cx="1143000" cy="785813"/>
          </a:xfrm>
          <a:prstGeom prst="roundRect">
            <a:avLst>
              <a:gd fmla="val 1454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3276320" y="2107400"/>
            <a:ext cx="1057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Persistence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Confirmed</a:t>
            </a:r>
            <a:endParaRPr sz="1100"/>
          </a:p>
        </p:txBody>
      </p:sp>
      <p:sp>
        <p:nvSpPr>
          <p:cNvPr id="256" name="Google Shape;256;p23"/>
          <p:cNvSpPr/>
          <p:nvPr/>
        </p:nvSpPr>
        <p:spPr>
          <a:xfrm>
            <a:off x="4407694" y="2235994"/>
            <a:ext cx="228600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4672013" y="1964531"/>
            <a:ext cx="1143000" cy="785813"/>
          </a:xfrm>
          <a:prstGeom prst="roundRect">
            <a:avLst>
              <a:gd fmla="val 1454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4757738" y="2107406"/>
            <a:ext cx="9715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Healthy</a:t>
            </a:r>
            <a:endParaRPr sz="1100"/>
          </a:p>
        </p:txBody>
      </p:sp>
      <p:sp>
        <p:nvSpPr>
          <p:cNvPr id="259" name="Google Shape;259;p23"/>
          <p:cNvSpPr/>
          <p:nvPr/>
        </p:nvSpPr>
        <p:spPr>
          <a:xfrm>
            <a:off x="5857875" y="2235994"/>
            <a:ext cx="228600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6122194" y="1964531"/>
            <a:ext cx="1143000" cy="785813"/>
          </a:xfrm>
          <a:prstGeom prst="roundRect">
            <a:avLst>
              <a:gd fmla="val 1454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6207919" y="2107406"/>
            <a:ext cx="9715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Coordinate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Boards</a:t>
            </a:r>
            <a:endParaRPr sz="1100"/>
          </a:p>
        </p:txBody>
      </p:sp>
      <p:sp>
        <p:nvSpPr>
          <p:cNvPr id="262" name="Google Shape;262;p23"/>
          <p:cNvSpPr/>
          <p:nvPr/>
        </p:nvSpPr>
        <p:spPr>
          <a:xfrm>
            <a:off x="7308056" y="2235994"/>
            <a:ext cx="228600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7572375" y="1964531"/>
            <a:ext cx="1143000" cy="785813"/>
          </a:xfrm>
          <a:prstGeom prst="roundRect">
            <a:avLst>
              <a:gd fmla="val 14545" name="adj"/>
            </a:avLst>
          </a:prstGeom>
          <a:solidFill>
            <a:srgbClr val="173A48"/>
          </a:solidFill>
          <a:ln cap="flat" cmpd="sng" w="19050">
            <a:solidFill>
              <a:srgbClr val="39D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7658100" y="2107406"/>
            <a:ext cx="9715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Switch to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endParaRPr sz="1100"/>
          </a:p>
        </p:txBody>
      </p:sp>
      <p:sp>
        <p:nvSpPr>
          <p:cNvPr id="265" name="Google Shape;265;p23"/>
          <p:cNvSpPr/>
          <p:nvPr/>
        </p:nvSpPr>
        <p:spPr>
          <a:xfrm>
            <a:off x="1785938" y="3393281"/>
            <a:ext cx="15001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Threshold</a:t>
            </a:r>
            <a:endParaRPr sz="1100"/>
          </a:p>
        </p:txBody>
      </p:sp>
      <p:sp>
        <p:nvSpPr>
          <p:cNvPr id="266" name="Google Shape;266;p23"/>
          <p:cNvSpPr/>
          <p:nvPr/>
        </p:nvSpPr>
        <p:spPr>
          <a:xfrm>
            <a:off x="3821906" y="3393281"/>
            <a:ext cx="15001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Persistence</a:t>
            </a:r>
            <a:endParaRPr sz="1100"/>
          </a:p>
        </p:txBody>
      </p:sp>
      <p:sp>
        <p:nvSpPr>
          <p:cNvPr id="267" name="Google Shape;267;p23"/>
          <p:cNvSpPr/>
          <p:nvPr/>
        </p:nvSpPr>
        <p:spPr>
          <a:xfrm>
            <a:off x="5857875" y="3393281"/>
            <a:ext cx="15001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Hysteresis</a:t>
            </a:r>
            <a:endParaRPr sz="1100"/>
          </a:p>
        </p:txBody>
      </p:sp>
      <p:sp>
        <p:nvSpPr>
          <p:cNvPr id="268" name="Google Shape;268;p23"/>
          <p:cNvSpPr/>
          <p:nvPr/>
        </p:nvSpPr>
        <p:spPr>
          <a:xfrm>
            <a:off x="1357313" y="4036219"/>
            <a:ext cx="6429375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Recovery follows a configurable failback policy and stability delay.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Technical Targets</a:t>
            </a:r>
            <a:endParaRPr sz="1100"/>
          </a:p>
        </p:txBody>
      </p:sp>
      <p:sp>
        <p:nvSpPr>
          <p:cNvPr id="276" name="Google Shape;276;p24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/>
          </a:p>
        </p:txBody>
      </p:sp>
      <p:cxnSp>
        <p:nvCxnSpPr>
          <p:cNvPr id="277" name="Google Shape;277;p24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24"/>
          <p:cNvSpPr/>
          <p:nvPr/>
        </p:nvSpPr>
        <p:spPr>
          <a:xfrm>
            <a:off x="464344" y="1321594"/>
            <a:ext cx="1785937" cy="1143000"/>
          </a:xfrm>
          <a:prstGeom prst="roundRect">
            <a:avLst>
              <a:gd fmla="val 1125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571500" y="1464469"/>
            <a:ext cx="1571625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1 GbE</a:t>
            </a:r>
            <a:endParaRPr sz="1100"/>
          </a:p>
        </p:txBody>
      </p:sp>
      <p:sp>
        <p:nvSpPr>
          <p:cNvPr id="280" name="Google Shape;280;p24"/>
          <p:cNvSpPr/>
          <p:nvPr/>
        </p:nvSpPr>
        <p:spPr>
          <a:xfrm>
            <a:off x="592931" y="2021681"/>
            <a:ext cx="152876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1000BASE-T and</a:t>
            </a:r>
            <a:endParaRPr sz="13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1000BASE-SX links</a:t>
            </a:r>
            <a:endParaRPr sz="1300"/>
          </a:p>
        </p:txBody>
      </p:sp>
      <p:sp>
        <p:nvSpPr>
          <p:cNvPr id="281" name="Google Shape;281;p24"/>
          <p:cNvSpPr/>
          <p:nvPr/>
        </p:nvSpPr>
        <p:spPr>
          <a:xfrm>
            <a:off x="2607469" y="1321594"/>
            <a:ext cx="1785938" cy="1143000"/>
          </a:xfrm>
          <a:prstGeom prst="roundRect">
            <a:avLst>
              <a:gd fmla="val 1125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2714625" y="1464469"/>
            <a:ext cx="1571625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≥ 900 Mb/s</a:t>
            </a:r>
            <a:endParaRPr sz="1100"/>
          </a:p>
        </p:txBody>
      </p:sp>
      <p:sp>
        <p:nvSpPr>
          <p:cNvPr id="283" name="Google Shape;283;p24"/>
          <p:cNvSpPr/>
          <p:nvPr/>
        </p:nvSpPr>
        <p:spPr>
          <a:xfrm>
            <a:off x="2736056" y="2021681"/>
            <a:ext cx="152876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Sustained TCP</a:t>
            </a:r>
            <a:endParaRPr sz="13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throughput</a:t>
            </a:r>
            <a:endParaRPr sz="1300"/>
          </a:p>
        </p:txBody>
      </p:sp>
      <p:sp>
        <p:nvSpPr>
          <p:cNvPr id="284" name="Google Shape;284;p24"/>
          <p:cNvSpPr/>
          <p:nvPr/>
        </p:nvSpPr>
        <p:spPr>
          <a:xfrm>
            <a:off x="4750594" y="1321594"/>
            <a:ext cx="1785938" cy="1143000"/>
          </a:xfrm>
          <a:prstGeom prst="roundRect">
            <a:avLst>
              <a:gd fmla="val 1125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4857750" y="1464469"/>
            <a:ext cx="1571625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≥ 1 update/s</a:t>
            </a:r>
            <a:endParaRPr sz="1100"/>
          </a:p>
        </p:txBody>
      </p:sp>
      <p:sp>
        <p:nvSpPr>
          <p:cNvPr id="286" name="Google Shape;286;p24"/>
          <p:cNvSpPr/>
          <p:nvPr/>
        </p:nvSpPr>
        <p:spPr>
          <a:xfrm>
            <a:off x="4879181" y="2021681"/>
            <a:ext cx="152876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Local SFP</a:t>
            </a:r>
            <a:endParaRPr sz="13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telemetry</a:t>
            </a:r>
            <a:endParaRPr sz="1300"/>
          </a:p>
        </p:txBody>
      </p:sp>
      <p:sp>
        <p:nvSpPr>
          <p:cNvPr id="287" name="Google Shape;287;p24"/>
          <p:cNvSpPr/>
          <p:nvPr/>
        </p:nvSpPr>
        <p:spPr>
          <a:xfrm>
            <a:off x="6893719" y="1321594"/>
            <a:ext cx="1785938" cy="1143000"/>
          </a:xfrm>
          <a:prstGeom prst="roundRect">
            <a:avLst>
              <a:gd fmla="val 1125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7000875" y="1464469"/>
            <a:ext cx="1571625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&lt; 100 ms*</a:t>
            </a:r>
            <a:endParaRPr sz="1100"/>
          </a:p>
        </p:txBody>
      </p:sp>
      <p:sp>
        <p:nvSpPr>
          <p:cNvPr id="289" name="Google Shape;289;p24"/>
          <p:cNvSpPr/>
          <p:nvPr/>
        </p:nvSpPr>
        <p:spPr>
          <a:xfrm>
            <a:off x="7022306" y="2021681"/>
            <a:ext cx="152876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Traffic interruption</a:t>
            </a:r>
            <a:endParaRPr sz="13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stretch target</a:t>
            </a:r>
            <a:endParaRPr sz="1300"/>
          </a:p>
        </p:txBody>
      </p:sp>
      <p:sp>
        <p:nvSpPr>
          <p:cNvPr id="290" name="Google Shape;290;p24"/>
          <p:cNvSpPr/>
          <p:nvPr/>
        </p:nvSpPr>
        <p:spPr>
          <a:xfrm>
            <a:off x="1071563" y="2928938"/>
            <a:ext cx="7000875" cy="10715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88900" lvl="0" marL="1905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Failover before the primary receiver asserts loss of signal.</a:t>
            </a:r>
            <a:endParaRPr sz="1100"/>
          </a:p>
          <a:p>
            <a:pPr indent="-88900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Matching active-path state after every acknowledged path change.</a:t>
            </a:r>
            <a:endParaRPr sz="1100"/>
          </a:p>
          <a:p>
            <a:pPr indent="-88900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least 20 path transitions and 20 consecutive power cycles.</a:t>
            </a:r>
            <a:endParaRPr sz="1100"/>
          </a:p>
        </p:txBody>
      </p:sp>
      <p:sp>
        <p:nvSpPr>
          <p:cNvPr id="291" name="Google Shape;291;p24"/>
          <p:cNvSpPr/>
          <p:nvPr/>
        </p:nvSpPr>
        <p:spPr>
          <a:xfrm>
            <a:off x="1143000" y="4357688"/>
            <a:ext cx="68580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* Preliminary stretch target; performance has not yet been experimentally verified.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5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Demonstration Plan</a:t>
            </a:r>
            <a:endParaRPr sz="1100"/>
          </a:p>
        </p:txBody>
      </p:sp>
      <p:sp>
        <p:nvSpPr>
          <p:cNvPr id="299" name="Google Shape;299;p25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/>
          </a:p>
        </p:txBody>
      </p:sp>
      <p:cxnSp>
        <p:nvCxnSpPr>
          <p:cNvPr id="300" name="Google Shape;300;p25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25"/>
          <p:cNvSpPr/>
          <p:nvPr/>
        </p:nvSpPr>
        <p:spPr>
          <a:xfrm>
            <a:off x="392906" y="1393031"/>
            <a:ext cx="1357313" cy="1107281"/>
          </a:xfrm>
          <a:prstGeom prst="roundRect">
            <a:avLst>
              <a:gd fmla="val 11613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5"/>
          <p:cNvSpPr/>
          <p:nvPr/>
        </p:nvSpPr>
        <p:spPr>
          <a:xfrm>
            <a:off x="392906" y="1393031"/>
            <a:ext cx="50006" cy="1107281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571500" y="1521619"/>
            <a:ext cx="1035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304" name="Google Shape;304;p25"/>
          <p:cNvSpPr/>
          <p:nvPr/>
        </p:nvSpPr>
        <p:spPr>
          <a:xfrm>
            <a:off x="450050" y="1828800"/>
            <a:ext cx="13002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Generate continuous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bidirectional traffic</a:t>
            </a:r>
            <a:endParaRPr sz="1100"/>
          </a:p>
        </p:txBody>
      </p:sp>
      <p:sp>
        <p:nvSpPr>
          <p:cNvPr id="305" name="Google Shape;305;p25"/>
          <p:cNvSpPr/>
          <p:nvPr/>
        </p:nvSpPr>
        <p:spPr>
          <a:xfrm>
            <a:off x="1800225" y="1821656"/>
            <a:ext cx="2571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2107406" y="1393031"/>
            <a:ext cx="1357313" cy="1107281"/>
          </a:xfrm>
          <a:prstGeom prst="roundRect">
            <a:avLst>
              <a:gd fmla="val 11613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2107406" y="1393031"/>
            <a:ext cx="50006" cy="1107281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2286000" y="1521619"/>
            <a:ext cx="1035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309" name="Google Shape;309;p25"/>
          <p:cNvSpPr/>
          <p:nvPr/>
        </p:nvSpPr>
        <p:spPr>
          <a:xfrm>
            <a:off x="2194033" y="1805566"/>
            <a:ext cx="13002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Increase primary-path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optical attenuation</a:t>
            </a:r>
            <a:endParaRPr sz="1100"/>
          </a:p>
        </p:txBody>
      </p:sp>
      <p:sp>
        <p:nvSpPr>
          <p:cNvPr id="310" name="Google Shape;310;p25"/>
          <p:cNvSpPr/>
          <p:nvPr/>
        </p:nvSpPr>
        <p:spPr>
          <a:xfrm>
            <a:off x="3514725" y="1821656"/>
            <a:ext cx="2571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"/>
          <p:cNvSpPr/>
          <p:nvPr/>
        </p:nvSpPr>
        <p:spPr>
          <a:xfrm>
            <a:off x="3821906" y="1393031"/>
            <a:ext cx="1357313" cy="1107281"/>
          </a:xfrm>
          <a:prstGeom prst="roundRect">
            <a:avLst>
              <a:gd fmla="val 11613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3821906" y="1393031"/>
            <a:ext cx="50006" cy="1107281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4000500" y="1521619"/>
            <a:ext cx="1035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314" name="Google Shape;314;p25"/>
          <p:cNvSpPr/>
          <p:nvPr/>
        </p:nvSpPr>
        <p:spPr>
          <a:xfrm>
            <a:off x="3984885" y="1797570"/>
            <a:ext cx="1035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 SFP diagnostics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path state</a:t>
            </a:r>
            <a:endParaRPr sz="1100"/>
          </a:p>
        </p:txBody>
      </p:sp>
      <p:sp>
        <p:nvSpPr>
          <p:cNvPr id="315" name="Google Shape;315;p25"/>
          <p:cNvSpPr/>
          <p:nvPr/>
        </p:nvSpPr>
        <p:spPr>
          <a:xfrm>
            <a:off x="5229225" y="1821656"/>
            <a:ext cx="2571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5536406" y="1393031"/>
            <a:ext cx="1357313" cy="1107281"/>
          </a:xfrm>
          <a:prstGeom prst="roundRect">
            <a:avLst>
              <a:gd fmla="val 11613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5536406" y="1393031"/>
            <a:ext cx="50006" cy="1107281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5715000" y="1521619"/>
            <a:ext cx="1035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319" name="Google Shape;319;p25"/>
          <p:cNvSpPr/>
          <p:nvPr/>
        </p:nvSpPr>
        <p:spPr>
          <a:xfrm>
            <a:off x="5652541" y="1839925"/>
            <a:ext cx="13002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Transfer traffic 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backup path</a:t>
            </a:r>
            <a:endParaRPr sz="1100"/>
          </a:p>
        </p:txBody>
      </p:sp>
      <p:sp>
        <p:nvSpPr>
          <p:cNvPr id="320" name="Google Shape;320;p25"/>
          <p:cNvSpPr/>
          <p:nvPr/>
        </p:nvSpPr>
        <p:spPr>
          <a:xfrm>
            <a:off x="6943725" y="1821656"/>
            <a:ext cx="2571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5"/>
          <p:cNvSpPr/>
          <p:nvPr/>
        </p:nvSpPr>
        <p:spPr>
          <a:xfrm>
            <a:off x="7250906" y="1393031"/>
            <a:ext cx="1357313" cy="1107281"/>
          </a:xfrm>
          <a:prstGeom prst="roundRect">
            <a:avLst>
              <a:gd fmla="val 11613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7250906" y="1393031"/>
            <a:ext cx="50006" cy="1107281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7429500" y="1521619"/>
            <a:ext cx="10358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324" name="Google Shape;324;p25"/>
          <p:cNvSpPr/>
          <p:nvPr/>
        </p:nvSpPr>
        <p:spPr>
          <a:xfrm>
            <a:off x="7429500" y="1781956"/>
            <a:ext cx="1035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 network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sz="1100"/>
          </a:p>
        </p:txBody>
      </p:sp>
      <p:sp>
        <p:nvSpPr>
          <p:cNvPr id="325" name="Google Shape;325;p25"/>
          <p:cNvSpPr/>
          <p:nvPr/>
        </p:nvSpPr>
        <p:spPr>
          <a:xfrm>
            <a:off x="607219" y="3250406"/>
            <a:ext cx="1785937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RECORDED RESULTS</a:t>
            </a:r>
            <a:endParaRPr sz="1100"/>
          </a:p>
        </p:txBody>
      </p:sp>
      <p:sp>
        <p:nvSpPr>
          <p:cNvPr id="326" name="Google Shape;326;p25"/>
          <p:cNvSpPr/>
          <p:nvPr/>
        </p:nvSpPr>
        <p:spPr>
          <a:xfrm>
            <a:off x="903900" y="3618725"/>
            <a:ext cx="6593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Received optical power  ·  Active path  ·  LOS  ·  Throughput  ·  Packet loss  ·  Interruption time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Risks and Mitigation</a:t>
            </a:r>
            <a:endParaRPr sz="1100"/>
          </a:p>
        </p:txBody>
      </p:sp>
      <p:sp>
        <p:nvSpPr>
          <p:cNvPr id="334" name="Google Shape;334;p26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/>
          </a:p>
        </p:txBody>
      </p:sp>
      <p:cxnSp>
        <p:nvCxnSpPr>
          <p:cNvPr id="335" name="Google Shape;335;p26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26"/>
          <p:cNvSpPr/>
          <p:nvPr/>
        </p:nvSpPr>
        <p:spPr>
          <a:xfrm>
            <a:off x="642938" y="1107281"/>
            <a:ext cx="30003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sz="1100"/>
          </a:p>
        </p:txBody>
      </p:sp>
      <p:sp>
        <p:nvSpPr>
          <p:cNvPr id="337" name="Google Shape;337;p26"/>
          <p:cNvSpPr/>
          <p:nvPr/>
        </p:nvSpPr>
        <p:spPr>
          <a:xfrm>
            <a:off x="4714875" y="1107281"/>
            <a:ext cx="35718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endParaRPr sz="1100"/>
          </a:p>
        </p:txBody>
      </p:sp>
      <p:sp>
        <p:nvSpPr>
          <p:cNvPr id="338" name="Google Shape;338;p26"/>
          <p:cNvSpPr/>
          <p:nvPr/>
        </p:nvSpPr>
        <p:spPr>
          <a:xfrm>
            <a:off x="500063" y="1464469"/>
            <a:ext cx="3571875" cy="442913"/>
          </a:xfrm>
          <a:prstGeom prst="roundRect">
            <a:avLst>
              <a:gd fmla="val 1935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39" name="Google Shape;339;p26"/>
          <p:cNvSpPr/>
          <p:nvPr/>
        </p:nvSpPr>
        <p:spPr>
          <a:xfrm>
            <a:off x="4429125" y="1464469"/>
            <a:ext cx="4214813" cy="442913"/>
          </a:xfrm>
          <a:prstGeom prst="roundRect">
            <a:avLst>
              <a:gd fmla="val 1935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0" name="Google Shape;340;p26"/>
          <p:cNvSpPr/>
          <p:nvPr/>
        </p:nvSpPr>
        <p:spPr>
          <a:xfrm>
            <a:off x="642938" y="1521619"/>
            <a:ext cx="3286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Limited switch evaluation hardware</a:t>
            </a:r>
            <a:endParaRPr sz="1300"/>
          </a:p>
        </p:txBody>
      </p:sp>
      <p:sp>
        <p:nvSpPr>
          <p:cNvPr id="341" name="Google Shape;341;p26"/>
          <p:cNvSpPr/>
          <p:nvPr/>
        </p:nvSpPr>
        <p:spPr>
          <a:xfrm>
            <a:off x="4572000" y="1521619"/>
            <a:ext cx="39290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Early documentation and register study</a:t>
            </a:r>
            <a:endParaRPr sz="1300"/>
          </a:p>
        </p:txBody>
      </p:sp>
      <p:sp>
        <p:nvSpPr>
          <p:cNvPr id="342" name="Google Shape;342;p26"/>
          <p:cNvSpPr/>
          <p:nvPr/>
        </p:nvSpPr>
        <p:spPr>
          <a:xfrm>
            <a:off x="500063" y="2050256"/>
            <a:ext cx="3571875" cy="442913"/>
          </a:xfrm>
          <a:prstGeom prst="roundRect">
            <a:avLst>
              <a:gd fmla="val 1935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3" name="Google Shape;343;p26"/>
          <p:cNvSpPr/>
          <p:nvPr/>
        </p:nvSpPr>
        <p:spPr>
          <a:xfrm>
            <a:off x="4429125" y="2050256"/>
            <a:ext cx="4214813" cy="442913"/>
          </a:xfrm>
          <a:prstGeom prst="roundRect">
            <a:avLst>
              <a:gd fmla="val 1935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4" name="Google Shape;344;p26"/>
          <p:cNvSpPr/>
          <p:nvPr/>
        </p:nvSpPr>
        <p:spPr>
          <a:xfrm>
            <a:off x="642938" y="2107406"/>
            <a:ext cx="3286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First-spin PCB failure</a:t>
            </a:r>
            <a:endParaRPr sz="1300"/>
          </a:p>
        </p:txBody>
      </p:sp>
      <p:sp>
        <p:nvSpPr>
          <p:cNvPr id="345" name="Google Shape;345;p26"/>
          <p:cNvSpPr/>
          <p:nvPr/>
        </p:nvSpPr>
        <p:spPr>
          <a:xfrm>
            <a:off x="4572000" y="2107406"/>
            <a:ext cx="39290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points and staged bring-up</a:t>
            </a:r>
            <a:endParaRPr sz="1300"/>
          </a:p>
        </p:txBody>
      </p:sp>
      <p:sp>
        <p:nvSpPr>
          <p:cNvPr id="346" name="Google Shape;346;p26"/>
          <p:cNvSpPr/>
          <p:nvPr/>
        </p:nvSpPr>
        <p:spPr>
          <a:xfrm>
            <a:off x="500063" y="2636044"/>
            <a:ext cx="3571875" cy="442913"/>
          </a:xfrm>
          <a:prstGeom prst="roundRect">
            <a:avLst>
              <a:gd fmla="val 1935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7" name="Google Shape;347;p26"/>
          <p:cNvSpPr/>
          <p:nvPr/>
        </p:nvSpPr>
        <p:spPr>
          <a:xfrm>
            <a:off x="4429125" y="2636044"/>
            <a:ext cx="4214813" cy="442913"/>
          </a:xfrm>
          <a:prstGeom prst="roundRect">
            <a:avLst>
              <a:gd fmla="val 1935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8" name="Google Shape;348;p26"/>
          <p:cNvSpPr/>
          <p:nvPr/>
        </p:nvSpPr>
        <p:spPr>
          <a:xfrm>
            <a:off x="642938" y="2693194"/>
            <a:ext cx="3286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In-band communication loss</a:t>
            </a:r>
            <a:endParaRPr sz="1300"/>
          </a:p>
        </p:txBody>
      </p:sp>
      <p:sp>
        <p:nvSpPr>
          <p:cNvPr id="349" name="Google Shape;349;p26"/>
          <p:cNvSpPr/>
          <p:nvPr/>
        </p:nvSpPr>
        <p:spPr>
          <a:xfrm>
            <a:off x="4572000" y="2693194"/>
            <a:ext cx="39290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Early warning and bounded timeouts</a:t>
            </a:r>
            <a:endParaRPr sz="1300"/>
          </a:p>
        </p:txBody>
      </p:sp>
      <p:sp>
        <p:nvSpPr>
          <p:cNvPr id="350" name="Google Shape;350;p26"/>
          <p:cNvSpPr/>
          <p:nvPr/>
        </p:nvSpPr>
        <p:spPr>
          <a:xfrm>
            <a:off x="500063" y="3221831"/>
            <a:ext cx="3571875" cy="442913"/>
          </a:xfrm>
          <a:prstGeom prst="roundRect">
            <a:avLst>
              <a:gd fmla="val 1935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51" name="Google Shape;351;p26"/>
          <p:cNvSpPr/>
          <p:nvPr/>
        </p:nvSpPr>
        <p:spPr>
          <a:xfrm>
            <a:off x="4429125" y="3221831"/>
            <a:ext cx="4214813" cy="442913"/>
          </a:xfrm>
          <a:prstGeom prst="roundRect">
            <a:avLst>
              <a:gd fmla="val 1935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52" name="Google Shape;352;p26"/>
          <p:cNvSpPr/>
          <p:nvPr/>
        </p:nvSpPr>
        <p:spPr>
          <a:xfrm>
            <a:off x="642938" y="3278981"/>
            <a:ext cx="3286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Hardware delays</a:t>
            </a:r>
            <a:endParaRPr sz="1300"/>
          </a:p>
        </p:txBody>
      </p:sp>
      <p:sp>
        <p:nvSpPr>
          <p:cNvPr id="353" name="Google Shape;353;p26"/>
          <p:cNvSpPr/>
          <p:nvPr/>
        </p:nvSpPr>
        <p:spPr>
          <a:xfrm>
            <a:off x="4572000" y="3278981"/>
            <a:ext cx="39290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Simulated telemetry for firmware testing</a:t>
            </a:r>
            <a:endParaRPr sz="1300"/>
          </a:p>
        </p:txBody>
      </p:sp>
      <p:sp>
        <p:nvSpPr>
          <p:cNvPr id="354" name="Google Shape;354;p26"/>
          <p:cNvSpPr/>
          <p:nvPr/>
        </p:nvSpPr>
        <p:spPr>
          <a:xfrm>
            <a:off x="500063" y="3807619"/>
            <a:ext cx="3571875" cy="442913"/>
          </a:xfrm>
          <a:prstGeom prst="roundRect">
            <a:avLst>
              <a:gd fmla="val 1935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55" name="Google Shape;355;p26"/>
          <p:cNvSpPr/>
          <p:nvPr/>
        </p:nvSpPr>
        <p:spPr>
          <a:xfrm>
            <a:off x="4429125" y="3807619"/>
            <a:ext cx="4214813" cy="442913"/>
          </a:xfrm>
          <a:prstGeom prst="roundRect">
            <a:avLst>
              <a:gd fmla="val 19355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56" name="Google Shape;356;p26"/>
          <p:cNvSpPr/>
          <p:nvPr/>
        </p:nvSpPr>
        <p:spPr>
          <a:xfrm>
            <a:off x="642938" y="3864769"/>
            <a:ext cx="3286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Slow failover</a:t>
            </a:r>
            <a:endParaRPr sz="1300"/>
          </a:p>
        </p:txBody>
      </p:sp>
      <p:sp>
        <p:nvSpPr>
          <p:cNvPr id="357" name="Google Shape;357;p26"/>
          <p:cNvSpPr/>
          <p:nvPr/>
        </p:nvSpPr>
        <p:spPr>
          <a:xfrm>
            <a:off x="4572000" y="3864769"/>
            <a:ext cx="39290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 and optimize each source of delay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Schedule and Current Status</a:t>
            </a:r>
            <a:endParaRPr sz="1100"/>
          </a:p>
        </p:txBody>
      </p:sp>
      <p:sp>
        <p:nvSpPr>
          <p:cNvPr id="365" name="Google Shape;365;p27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/>
          </a:p>
        </p:txBody>
      </p:sp>
      <p:cxnSp>
        <p:nvCxnSpPr>
          <p:cNvPr id="366" name="Google Shape;366;p27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27"/>
          <p:cNvSpPr/>
          <p:nvPr/>
        </p:nvSpPr>
        <p:spPr>
          <a:xfrm>
            <a:off x="642938" y="1071563"/>
            <a:ext cx="492918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Requirements and architecture</a:t>
            </a:r>
            <a:endParaRPr sz="1300"/>
          </a:p>
        </p:txBody>
      </p:sp>
      <p:sp>
        <p:nvSpPr>
          <p:cNvPr id="368" name="Google Shape;368;p27"/>
          <p:cNvSpPr/>
          <p:nvPr/>
        </p:nvSpPr>
        <p:spPr>
          <a:xfrm>
            <a:off x="6072188" y="1107281"/>
            <a:ext cx="2143125" cy="307181"/>
          </a:xfrm>
          <a:prstGeom prst="roundRect">
            <a:avLst>
              <a:gd fmla="val 37209" name="adj"/>
            </a:avLst>
          </a:prstGeom>
          <a:solidFill>
            <a:srgbClr val="11161C"/>
          </a:solidFill>
          <a:ln cap="flat" cmpd="sng" w="19050">
            <a:solidFill>
              <a:srgbClr val="56E3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9" name="Google Shape;369;p27"/>
          <p:cNvSpPr/>
          <p:nvPr/>
        </p:nvSpPr>
        <p:spPr>
          <a:xfrm>
            <a:off x="6215063" y="1128713"/>
            <a:ext cx="18573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6E39F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  <a:endParaRPr sz="1300"/>
          </a:p>
        </p:txBody>
      </p:sp>
      <p:sp>
        <p:nvSpPr>
          <p:cNvPr id="370" name="Google Shape;370;p27"/>
          <p:cNvSpPr/>
          <p:nvPr/>
        </p:nvSpPr>
        <p:spPr>
          <a:xfrm>
            <a:off x="642938" y="1664494"/>
            <a:ext cx="492918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 and interface selection</a:t>
            </a:r>
            <a:endParaRPr sz="1300"/>
          </a:p>
        </p:txBody>
      </p:sp>
      <p:sp>
        <p:nvSpPr>
          <p:cNvPr id="371" name="Google Shape;371;p27"/>
          <p:cNvSpPr/>
          <p:nvPr/>
        </p:nvSpPr>
        <p:spPr>
          <a:xfrm>
            <a:off x="6072188" y="1700213"/>
            <a:ext cx="2143125" cy="307181"/>
          </a:xfrm>
          <a:prstGeom prst="roundRect">
            <a:avLst>
              <a:gd fmla="val 37209" name="adj"/>
            </a:avLst>
          </a:prstGeom>
          <a:solidFill>
            <a:srgbClr val="11161C"/>
          </a:solidFill>
          <a:ln cap="flat" cmpd="sng" w="19050">
            <a:solidFill>
              <a:srgbClr val="56E3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72" name="Google Shape;372;p27"/>
          <p:cNvSpPr/>
          <p:nvPr/>
        </p:nvSpPr>
        <p:spPr>
          <a:xfrm>
            <a:off x="6215063" y="1721644"/>
            <a:ext cx="18573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6E39F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  <a:endParaRPr sz="1300"/>
          </a:p>
        </p:txBody>
      </p:sp>
      <p:sp>
        <p:nvSpPr>
          <p:cNvPr id="373" name="Google Shape;373;p27"/>
          <p:cNvSpPr/>
          <p:nvPr/>
        </p:nvSpPr>
        <p:spPr>
          <a:xfrm>
            <a:off x="642938" y="2257425"/>
            <a:ext cx="492918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Schematic design</a:t>
            </a:r>
            <a:endParaRPr sz="1300"/>
          </a:p>
        </p:txBody>
      </p:sp>
      <p:sp>
        <p:nvSpPr>
          <p:cNvPr id="374" name="Google Shape;374;p27"/>
          <p:cNvSpPr/>
          <p:nvPr/>
        </p:nvSpPr>
        <p:spPr>
          <a:xfrm>
            <a:off x="6072188" y="2293144"/>
            <a:ext cx="2143125" cy="307181"/>
          </a:xfrm>
          <a:prstGeom prst="roundRect">
            <a:avLst>
              <a:gd fmla="val 37209" name="adj"/>
            </a:avLst>
          </a:prstGeom>
          <a:solidFill>
            <a:srgbClr val="11161C"/>
          </a:solidFill>
          <a:ln cap="flat" cmpd="sng" w="1905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75" name="Google Shape;375;p27"/>
          <p:cNvSpPr/>
          <p:nvPr/>
        </p:nvSpPr>
        <p:spPr>
          <a:xfrm>
            <a:off x="6215063" y="2314575"/>
            <a:ext cx="18573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C857"/>
                </a:solidFill>
                <a:latin typeface="Arial"/>
                <a:ea typeface="Arial"/>
                <a:cs typeface="Arial"/>
                <a:sym typeface="Arial"/>
              </a:rPr>
              <a:t>IN PROGRESS</a:t>
            </a:r>
            <a:endParaRPr sz="1300"/>
          </a:p>
        </p:txBody>
      </p:sp>
      <p:sp>
        <p:nvSpPr>
          <p:cNvPr id="376" name="Google Shape;376;p27"/>
          <p:cNvSpPr/>
          <p:nvPr/>
        </p:nvSpPr>
        <p:spPr>
          <a:xfrm>
            <a:off x="642938" y="2850356"/>
            <a:ext cx="492918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Firmware implementation</a:t>
            </a:r>
            <a:endParaRPr sz="1300"/>
          </a:p>
        </p:txBody>
      </p:sp>
      <p:sp>
        <p:nvSpPr>
          <p:cNvPr id="377" name="Google Shape;377;p27"/>
          <p:cNvSpPr/>
          <p:nvPr/>
        </p:nvSpPr>
        <p:spPr>
          <a:xfrm>
            <a:off x="6072188" y="2886075"/>
            <a:ext cx="2143125" cy="307181"/>
          </a:xfrm>
          <a:prstGeom prst="roundRect">
            <a:avLst>
              <a:gd fmla="val 37209" name="adj"/>
            </a:avLst>
          </a:prstGeom>
          <a:solidFill>
            <a:srgbClr val="11161C"/>
          </a:solidFill>
          <a:ln cap="flat" cmpd="sng" w="1905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78" name="Google Shape;378;p27"/>
          <p:cNvSpPr/>
          <p:nvPr/>
        </p:nvSpPr>
        <p:spPr>
          <a:xfrm>
            <a:off x="6215063" y="2907506"/>
            <a:ext cx="18573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C857"/>
                </a:solidFill>
                <a:latin typeface="Arial"/>
                <a:ea typeface="Arial"/>
                <a:cs typeface="Arial"/>
                <a:sym typeface="Arial"/>
              </a:rPr>
              <a:t>EARLY DEVELOPMENT</a:t>
            </a:r>
            <a:endParaRPr sz="1300"/>
          </a:p>
        </p:txBody>
      </p:sp>
      <p:sp>
        <p:nvSpPr>
          <p:cNvPr id="379" name="Google Shape;379;p27"/>
          <p:cNvSpPr/>
          <p:nvPr/>
        </p:nvSpPr>
        <p:spPr>
          <a:xfrm>
            <a:off x="642938" y="3443288"/>
            <a:ext cx="492918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PCB fabrication, integration, and testing</a:t>
            </a:r>
            <a:endParaRPr sz="1300"/>
          </a:p>
        </p:txBody>
      </p:sp>
      <p:sp>
        <p:nvSpPr>
          <p:cNvPr id="380" name="Google Shape;380;p27"/>
          <p:cNvSpPr/>
          <p:nvPr/>
        </p:nvSpPr>
        <p:spPr>
          <a:xfrm>
            <a:off x="6072188" y="3479006"/>
            <a:ext cx="2143125" cy="307181"/>
          </a:xfrm>
          <a:prstGeom prst="roundRect">
            <a:avLst>
              <a:gd fmla="val 37209" name="adj"/>
            </a:avLst>
          </a:prstGeom>
          <a:solidFill>
            <a:srgbClr val="11161C"/>
          </a:solidFill>
          <a:ln cap="flat" cmpd="sng" w="19050">
            <a:solidFill>
              <a:srgbClr val="8E9B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81" name="Google Shape;381;p27"/>
          <p:cNvSpPr/>
          <p:nvPr/>
        </p:nvSpPr>
        <p:spPr>
          <a:xfrm>
            <a:off x="6215063" y="3500438"/>
            <a:ext cx="18573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8E9BAA"/>
                </a:solidFill>
                <a:latin typeface="Arial"/>
                <a:ea typeface="Arial"/>
                <a:cs typeface="Arial"/>
                <a:sym typeface="Arial"/>
              </a:rPr>
              <a:t>UPCOMING</a:t>
            </a:r>
            <a:endParaRPr sz="1300"/>
          </a:p>
        </p:txBody>
      </p:sp>
      <p:sp>
        <p:nvSpPr>
          <p:cNvPr id="382" name="Google Shape;382;p27"/>
          <p:cNvSpPr/>
          <p:nvPr/>
        </p:nvSpPr>
        <p:spPr>
          <a:xfrm>
            <a:off x="5429250" y="4214813"/>
            <a:ext cx="2928938" cy="442913"/>
          </a:xfrm>
          <a:prstGeom prst="roundRect">
            <a:avLst>
              <a:gd fmla="val 25806" name="adj"/>
            </a:avLst>
          </a:prstGeom>
          <a:solidFill>
            <a:srgbClr val="173A48"/>
          </a:solidFill>
          <a:ln cap="flat" cmpd="sng" w="19050">
            <a:solidFill>
              <a:srgbClr val="39D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83" name="Google Shape;383;p27"/>
          <p:cNvSpPr/>
          <p:nvPr/>
        </p:nvSpPr>
        <p:spPr>
          <a:xfrm>
            <a:off x="5572125" y="4307681"/>
            <a:ext cx="26431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CAPSTONE EXPO  ·  DECEMBER 8, 2026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"/>
          <p:cNvSpPr/>
          <p:nvPr/>
        </p:nvSpPr>
        <p:spPr>
          <a:xfrm>
            <a:off x="385763" y="321469"/>
            <a:ext cx="64200" cy="328500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8"/>
          <p:cNvSpPr/>
          <p:nvPr/>
        </p:nvSpPr>
        <p:spPr>
          <a:xfrm>
            <a:off x="585788" y="271463"/>
            <a:ext cx="7715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Schedule and Current Status</a:t>
            </a:r>
            <a:endParaRPr sz="1100"/>
          </a:p>
        </p:txBody>
      </p:sp>
      <p:sp>
        <p:nvSpPr>
          <p:cNvPr id="391" name="Google Shape;391;p28"/>
          <p:cNvSpPr/>
          <p:nvPr/>
        </p:nvSpPr>
        <p:spPr>
          <a:xfrm>
            <a:off x="8429625" y="371475"/>
            <a:ext cx="393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/>
          </a:p>
        </p:txBody>
      </p:sp>
      <p:cxnSp>
        <p:nvCxnSpPr>
          <p:cNvPr id="392" name="Google Shape;392;p28"/>
          <p:cNvCxnSpPr/>
          <p:nvPr/>
        </p:nvCxnSpPr>
        <p:spPr>
          <a:xfrm>
            <a:off x="385763" y="800100"/>
            <a:ext cx="8372400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3" name="Google Shape;3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69152"/>
            <a:ext cx="8839204" cy="9754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4" name="Google Shape;394;p28"/>
          <p:cNvCxnSpPr/>
          <p:nvPr/>
        </p:nvCxnSpPr>
        <p:spPr>
          <a:xfrm>
            <a:off x="2545050" y="1737963"/>
            <a:ext cx="0" cy="18378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9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9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Responsibilities</a:t>
            </a:r>
            <a:endParaRPr sz="1100"/>
          </a:p>
        </p:txBody>
      </p:sp>
      <p:sp>
        <p:nvSpPr>
          <p:cNvPr id="402" name="Google Shape;402;p29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100"/>
          </a:p>
        </p:txBody>
      </p:sp>
      <p:cxnSp>
        <p:nvCxnSpPr>
          <p:cNvPr id="403" name="Google Shape;403;p29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29"/>
          <p:cNvSpPr/>
          <p:nvPr/>
        </p:nvSpPr>
        <p:spPr>
          <a:xfrm>
            <a:off x="392906" y="1357313"/>
            <a:ext cx="1928813" cy="1785937"/>
          </a:xfrm>
          <a:prstGeom prst="roundRect">
            <a:avLst>
              <a:gd fmla="val 720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9"/>
          <p:cNvSpPr/>
          <p:nvPr/>
        </p:nvSpPr>
        <p:spPr>
          <a:xfrm>
            <a:off x="392906" y="1357313"/>
            <a:ext cx="50006" cy="1785937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571500" y="1485900"/>
            <a:ext cx="16073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MADHAWI</a:t>
            </a:r>
            <a:endParaRPr sz="1100"/>
          </a:p>
        </p:txBody>
      </p:sp>
      <p:sp>
        <p:nvSpPr>
          <p:cNvPr id="407" name="Google Shape;407;p29"/>
          <p:cNvSpPr/>
          <p:nvPr/>
        </p:nvSpPr>
        <p:spPr>
          <a:xfrm>
            <a:off x="571500" y="1793081"/>
            <a:ext cx="1607344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Hardware design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PCB development</a:t>
            </a:r>
            <a:endParaRPr sz="1300"/>
          </a:p>
        </p:txBody>
      </p:sp>
      <p:sp>
        <p:nvSpPr>
          <p:cNvPr id="408" name="Google Shape;408;p29"/>
          <p:cNvSpPr/>
          <p:nvPr/>
        </p:nvSpPr>
        <p:spPr>
          <a:xfrm>
            <a:off x="2536031" y="1357313"/>
            <a:ext cx="1928813" cy="1785937"/>
          </a:xfrm>
          <a:prstGeom prst="roundRect">
            <a:avLst>
              <a:gd fmla="val 720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9"/>
          <p:cNvSpPr/>
          <p:nvPr/>
        </p:nvSpPr>
        <p:spPr>
          <a:xfrm>
            <a:off x="2536031" y="1357313"/>
            <a:ext cx="50006" cy="1785937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9"/>
          <p:cNvSpPr/>
          <p:nvPr/>
        </p:nvSpPr>
        <p:spPr>
          <a:xfrm>
            <a:off x="2714625" y="1485900"/>
            <a:ext cx="16073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ETHAN</a:t>
            </a:r>
            <a:endParaRPr sz="1100"/>
          </a:p>
        </p:txBody>
      </p:sp>
      <p:sp>
        <p:nvSpPr>
          <p:cNvPr id="411" name="Google Shape;411;p29"/>
          <p:cNvSpPr/>
          <p:nvPr/>
        </p:nvSpPr>
        <p:spPr>
          <a:xfrm>
            <a:off x="2714625" y="1793081"/>
            <a:ext cx="1607344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Ethernet switch hardware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Board bring-up</a:t>
            </a:r>
            <a:endParaRPr sz="1300"/>
          </a:p>
        </p:txBody>
      </p:sp>
      <p:sp>
        <p:nvSpPr>
          <p:cNvPr id="412" name="Google Shape;412;p29"/>
          <p:cNvSpPr/>
          <p:nvPr/>
        </p:nvSpPr>
        <p:spPr>
          <a:xfrm>
            <a:off x="4679156" y="1357313"/>
            <a:ext cx="1928813" cy="1785937"/>
          </a:xfrm>
          <a:prstGeom prst="roundRect">
            <a:avLst>
              <a:gd fmla="val 720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9"/>
          <p:cNvSpPr/>
          <p:nvPr/>
        </p:nvSpPr>
        <p:spPr>
          <a:xfrm>
            <a:off x="4679156" y="1357313"/>
            <a:ext cx="50006" cy="1785937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9"/>
          <p:cNvSpPr/>
          <p:nvPr/>
        </p:nvSpPr>
        <p:spPr>
          <a:xfrm>
            <a:off x="4857750" y="1485900"/>
            <a:ext cx="16073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AUSKA</a:t>
            </a:r>
            <a:endParaRPr sz="1100"/>
          </a:p>
        </p:txBody>
      </p:sp>
      <p:sp>
        <p:nvSpPr>
          <p:cNvPr id="415" name="Google Shape;415;p29"/>
          <p:cNvSpPr/>
          <p:nvPr/>
        </p:nvSpPr>
        <p:spPr>
          <a:xfrm>
            <a:off x="4857750" y="1793081"/>
            <a:ext cx="1607344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Firmware architecture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Switch configuration</a:t>
            </a:r>
            <a:endParaRPr sz="1300"/>
          </a:p>
        </p:txBody>
      </p:sp>
      <p:sp>
        <p:nvSpPr>
          <p:cNvPr id="416" name="Google Shape;416;p29"/>
          <p:cNvSpPr/>
          <p:nvPr/>
        </p:nvSpPr>
        <p:spPr>
          <a:xfrm>
            <a:off x="6822281" y="1357313"/>
            <a:ext cx="1928813" cy="1785937"/>
          </a:xfrm>
          <a:prstGeom prst="roundRect">
            <a:avLst>
              <a:gd fmla="val 7200" name="adj"/>
            </a:avLst>
          </a:prstGeom>
          <a:solidFill>
            <a:srgbClr val="11161C"/>
          </a:solidFill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9"/>
          <p:cNvSpPr/>
          <p:nvPr/>
        </p:nvSpPr>
        <p:spPr>
          <a:xfrm>
            <a:off x="6822281" y="1357313"/>
            <a:ext cx="50006" cy="1785937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9"/>
          <p:cNvSpPr/>
          <p:nvPr/>
        </p:nvSpPr>
        <p:spPr>
          <a:xfrm>
            <a:off x="7000875" y="1485900"/>
            <a:ext cx="16073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YICHI</a:t>
            </a:r>
            <a:endParaRPr sz="1100"/>
          </a:p>
        </p:txBody>
      </p:sp>
      <p:sp>
        <p:nvSpPr>
          <p:cNvPr id="419" name="Google Shape;419;p29"/>
          <p:cNvSpPr/>
          <p:nvPr/>
        </p:nvSpPr>
        <p:spPr>
          <a:xfrm>
            <a:off x="7000875" y="1793081"/>
            <a:ext cx="1607344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STM32 firmware and SFP monitoring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Health monitoring and failover logic</a:t>
            </a:r>
            <a:endParaRPr sz="1100"/>
          </a:p>
        </p:txBody>
      </p:sp>
      <p:sp>
        <p:nvSpPr>
          <p:cNvPr id="420" name="Google Shape;420;p29"/>
          <p:cNvSpPr/>
          <p:nvPr/>
        </p:nvSpPr>
        <p:spPr>
          <a:xfrm>
            <a:off x="1214438" y="3821906"/>
            <a:ext cx="6715125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System integration and bring-up are collaborative team activities.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"/>
          <p:cNvSpPr/>
          <p:nvPr/>
        </p:nvSpPr>
        <p:spPr>
          <a:xfrm>
            <a:off x="385763" y="321469"/>
            <a:ext cx="64294" cy="328613"/>
          </a:xfrm>
          <a:prstGeom prst="rect">
            <a:avLst/>
          </a:prstGeom>
          <a:solidFill>
            <a:srgbClr val="39D7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0"/>
          <p:cNvSpPr/>
          <p:nvPr/>
        </p:nvSpPr>
        <p:spPr>
          <a:xfrm>
            <a:off x="585788" y="271463"/>
            <a:ext cx="77152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Expected Outcome</a:t>
            </a:r>
            <a:endParaRPr sz="1100"/>
          </a:p>
        </p:txBody>
      </p:sp>
      <p:sp>
        <p:nvSpPr>
          <p:cNvPr id="428" name="Google Shape;428;p30"/>
          <p:cNvSpPr/>
          <p:nvPr/>
        </p:nvSpPr>
        <p:spPr>
          <a:xfrm>
            <a:off x="8429625" y="371475"/>
            <a:ext cx="3929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B8C0CC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/>
          </a:p>
        </p:txBody>
      </p:sp>
      <p:cxnSp>
        <p:nvCxnSpPr>
          <p:cNvPr id="429" name="Google Shape;429;p30"/>
          <p:cNvCxnSpPr/>
          <p:nvPr/>
        </p:nvCxnSpPr>
        <p:spPr>
          <a:xfrm>
            <a:off x="385763" y="800100"/>
            <a:ext cx="8372475" cy="0"/>
          </a:xfrm>
          <a:prstGeom prst="straightConnector1">
            <a:avLst/>
          </a:prstGeom>
          <a:noFill/>
          <a:ln cap="flat" cmpd="sng" w="19050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30"/>
          <p:cNvSpPr/>
          <p:nvPr/>
        </p:nvSpPr>
        <p:spPr>
          <a:xfrm>
            <a:off x="642938" y="1214438"/>
            <a:ext cx="5429250" cy="2643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01600" lvl="0" marL="1905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identical Ethernet-to-fiber converter boards</a:t>
            </a:r>
            <a:endParaRPr sz="1100"/>
          </a:p>
          <a:p>
            <a:pPr indent="-101600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SFP diagnostic monitoring</a:t>
            </a:r>
            <a:endParaRPr sz="1100"/>
          </a:p>
          <a:p>
            <a:pPr indent="-101600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 and backup optical paths</a:t>
            </a:r>
            <a:endParaRPr sz="1100"/>
          </a:p>
          <a:p>
            <a:pPr indent="-101600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Coordinated pre-failure failover</a:t>
            </a:r>
            <a:endParaRPr sz="1100"/>
          </a:p>
          <a:p>
            <a:pPr indent="-101600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Measured throughput, packet loss, interruption, and recovery behavior</a:t>
            </a:r>
            <a:endParaRPr sz="1100"/>
          </a:p>
        </p:txBody>
      </p:sp>
      <p:sp>
        <p:nvSpPr>
          <p:cNvPr id="431" name="Google Shape;431;p30"/>
          <p:cNvSpPr/>
          <p:nvPr/>
        </p:nvSpPr>
        <p:spPr>
          <a:xfrm>
            <a:off x="6250781" y="1285875"/>
            <a:ext cx="2393156" cy="2143125"/>
          </a:xfrm>
          <a:prstGeom prst="roundRect">
            <a:avLst>
              <a:gd fmla="val 9333" name="adj"/>
            </a:avLst>
          </a:prstGeom>
          <a:solidFill>
            <a:srgbClr val="081B22"/>
          </a:solidFill>
          <a:ln cap="flat" cmpd="sng" w="19050">
            <a:solidFill>
              <a:srgbClr val="39D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0"/>
          <p:cNvSpPr/>
          <p:nvPr/>
        </p:nvSpPr>
        <p:spPr>
          <a:xfrm>
            <a:off x="6429375" y="1678781"/>
            <a:ext cx="203596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PROACTIVE</a:t>
            </a:r>
            <a:endParaRPr sz="1100"/>
          </a:p>
        </p:txBody>
      </p:sp>
      <p:sp>
        <p:nvSpPr>
          <p:cNvPr id="433" name="Google Shape;433;p30"/>
          <p:cNvSpPr/>
          <p:nvPr/>
        </p:nvSpPr>
        <p:spPr>
          <a:xfrm>
            <a:off x="6429375" y="2071688"/>
            <a:ext cx="2035969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OPTICAL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FAULT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  <a:endParaRPr sz="1100"/>
          </a:p>
        </p:txBody>
      </p:sp>
      <p:sp>
        <p:nvSpPr>
          <p:cNvPr id="434" name="Google Shape;434;p30"/>
          <p:cNvSpPr/>
          <p:nvPr/>
        </p:nvSpPr>
        <p:spPr>
          <a:xfrm>
            <a:off x="1071563" y="4107656"/>
            <a:ext cx="7000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9D7FF"/>
                </a:solidFill>
                <a:latin typeface="Arial"/>
                <a:ea typeface="Arial"/>
                <a:cs typeface="Arial"/>
                <a:sym typeface="Arial"/>
              </a:rPr>
              <a:t>before complete link failure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