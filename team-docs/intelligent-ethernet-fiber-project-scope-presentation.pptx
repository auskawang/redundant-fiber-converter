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8Rw16PeDshDuiCDvQOTmvksMK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Project scope summary. Target demonstration date: December 8, 2026.</a:t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Scope reflects the current two-board architecture. The first prototype targets 1 Gb/s multimode fiber and a controlled break-before-make failover demonstration.</a:t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7a1dc19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a7a1dc19a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The diagram is intentionally simplified. Ethernet data and STM32-to-STM32 management frames share whichever optical path is active. Sources: https://www.microchip.com/en-us/product/lan96455 and https://www.st.com/en/microcontrollers-microprocessors/stm32n6-series.html</a:t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The diagram is intentionally simplified. Ethernet data and STM32-to-STM32 management frames share whichever optical path is active. Sources: https://www.microchip.com/en-us/product/lan96455 and https://www.st.com/en/microcontrollers-microprocessors/stm32n6-series.html</a:t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The diagram is intentionally simplified. Ethernet data and STM32-to-STM32 management frames share whichever optical path is active. Sources: https://www.microchip.com/en-us/product/lan96455 and https://www.st.com/en/microcontrollers-microprocessors/stm32n6-series.html</a:t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The highest schedule risks are first-pass board bring-up, LAN96455 configuration, and coordinated failover behavior. Keep manual port switching available as an early demonstration fallback.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Working schedule prepared September 8, 2026. The December 8 expo date comes from the project requirement. Intermediate dates are planning assumptions and should be updated after fabrication lead time is confirmed.</a:t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/>
          <p:nvPr>
            <p:ph type="ctrTitle"/>
          </p:nvPr>
        </p:nvSpPr>
        <p:spPr>
          <a:xfrm>
            <a:off x="393700" y="1041400"/>
            <a:ext cx="7493000" cy="24914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" type="subTitle"/>
          </p:nvPr>
        </p:nvSpPr>
        <p:spPr>
          <a:xfrm>
            <a:off x="393700" y="4356100"/>
            <a:ext cx="55372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0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3" type="body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3334966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3" type="body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4" type="body"/>
          </p:nvPr>
        </p:nvSpPr>
        <p:spPr>
          <a:xfrm>
            <a:off x="9205679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>
  <p:cSld name="Footer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61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  <a:defRPr b="0" i="0" sz="29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248">
          <p15:clr>
            <a:srgbClr val="F26B43"/>
          </p15:clr>
        </p15:guide>
        <p15:guide id="17" orient="horz" pos="656">
          <p15:clr>
            <a:srgbClr val="F26B43"/>
          </p15:clr>
        </p15:guide>
        <p15:guide id="18" orient="horz" pos="872">
          <p15:clr>
            <a:srgbClr val="F26B43"/>
          </p15:clr>
        </p15:guide>
        <p15:guide id="19" orient="horz" pos="1280">
          <p15:clr>
            <a:srgbClr val="F26B43"/>
          </p15:clr>
        </p15:guide>
        <p15:guide id="20" orient="horz" pos="1496">
          <p15:clr>
            <a:srgbClr val="F26B43"/>
          </p15:clr>
        </p15:guide>
        <p15:guide id="21" orient="horz" pos="1904">
          <p15:clr>
            <a:srgbClr val="F26B43"/>
          </p15:clr>
        </p15:guide>
        <p15:guide id="22" orient="horz" pos="2120">
          <p15:clr>
            <a:srgbClr val="F26B43"/>
          </p15:clr>
        </p15:guide>
        <p15:guide id="23" orient="horz" pos="2528">
          <p15:clr>
            <a:srgbClr val="F26B43"/>
          </p15:clr>
        </p15:guide>
        <p15:guide id="24" orient="horz" pos="2744">
          <p15:clr>
            <a:srgbClr val="F26B43"/>
          </p15:clr>
        </p15:guide>
        <p15:guide id="25" orient="horz" pos="3152">
          <p15:clr>
            <a:srgbClr val="F26B43"/>
          </p15:clr>
        </p15:guide>
        <p15:guide id="26" orient="horz" pos="3368">
          <p15:clr>
            <a:srgbClr val="F26B43"/>
          </p15:clr>
        </p15:guide>
        <p15:guide id="27" orient="horz" pos="3776">
          <p15:clr>
            <a:srgbClr val="F26B43"/>
          </p15:clr>
        </p15:guide>
        <p15:guide id="28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1371600" y="2066174"/>
            <a:ext cx="9448800" cy="22036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EF59"/>
              </a:buClr>
              <a:buSzPts val="7200"/>
              <a:buFont typeface="Inter Medium"/>
              <a:buNone/>
            </a:pPr>
            <a:r>
              <a:rPr lang="en-US" sz="7200">
                <a:solidFill>
                  <a:srgbClr val="BCEF59"/>
                </a:solidFill>
              </a:rPr>
              <a:t>Intelligent Ethernet-to-Fiber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EF59"/>
              </a:buClr>
              <a:buSzPts val="7200"/>
              <a:buFont typeface="Inter Medium"/>
              <a:buNone/>
            </a:pPr>
            <a:r>
              <a:rPr lang="en-US" sz="7200">
                <a:solidFill>
                  <a:srgbClr val="BCEF59"/>
                </a:solidFill>
              </a:rPr>
              <a:t>Converter</a:t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2461605" y="4874716"/>
            <a:ext cx="7267329" cy="691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Redundant optical paths with real-time SFP health monitoring</a:t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4793262" y="515260"/>
            <a:ext cx="2604013" cy="488816"/>
          </a:xfrm>
          <a:prstGeom prst="roundRect">
            <a:avLst>
              <a:gd fmla="val 50000" name="adj"/>
            </a:avLst>
          </a:prstGeom>
          <a:solidFill>
            <a:schemeClr val="lt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</a:pPr>
            <a:r>
              <a:rPr b="1" lang="en-US"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ECE 4015 Capstone, Fall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</a:pPr>
            <a:r>
              <a:rPr b="0" i="0" lang="en-US"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target and scope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00050" y="1295400"/>
            <a:ext cx="11049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A media converter that monitors optical health and transfers Ethernet traffic before a fiber path fails.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00050" y="27241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00050" y="3219450"/>
            <a:ext cx="3143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Maintain a 1 Gb/s Ethernet connection between two laptops across redundant 1000BASE-SX fiber paths.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305300" y="27241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305300" y="3219450"/>
            <a:ext cx="3143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Two identical converter boards. Each board combines an STM32N6, LAN96455F switch, two SFP modules, and copper Ethernet ports.</a:t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220075" y="27241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220075" y="3219450"/>
            <a:ext cx="3143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Report SFP diagnostics, identify a degrading primary path, coordinate both boards, and move traffic to the backup path.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61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7a1dc19a_0_0"/>
          <p:cNvSpPr txBox="1"/>
          <p:nvPr/>
        </p:nvSpPr>
        <p:spPr>
          <a:xfrm>
            <a:off x="402336" y="347472"/>
            <a:ext cx="113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7F8F5"/>
                </a:solidFill>
                <a:latin typeface="Arial"/>
                <a:ea typeface="Arial"/>
                <a:cs typeface="Arial"/>
                <a:sym typeface="Arial"/>
              </a:rPr>
              <a:t>Market research and problem–solution</a:t>
            </a:r>
            <a:endParaRPr/>
          </a:p>
        </p:txBody>
      </p:sp>
      <p:sp>
        <p:nvSpPr>
          <p:cNvPr id="77" name="Google Shape;77;g3fa7a1dc19a_0_0"/>
          <p:cNvSpPr txBox="1"/>
          <p:nvPr/>
        </p:nvSpPr>
        <p:spPr>
          <a:xfrm>
            <a:off x="502920" y="2514600"/>
            <a:ext cx="324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FF2A"/>
                </a:solidFill>
                <a:latin typeface="Arial"/>
                <a:ea typeface="Arial"/>
                <a:cs typeface="Arial"/>
                <a:sym typeface="Arial"/>
              </a:rPr>
              <a:t>MARKET EVIDENCE</a:t>
            </a:r>
            <a:endParaRPr/>
          </a:p>
        </p:txBody>
      </p:sp>
      <p:sp>
        <p:nvSpPr>
          <p:cNvPr id="78" name="Google Shape;78;g3fa7a1dc19a_0_0"/>
          <p:cNvSpPr txBox="1"/>
          <p:nvPr/>
        </p:nvSpPr>
        <p:spPr>
          <a:xfrm>
            <a:off x="4087368" y="2514600"/>
            <a:ext cx="315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FF2A"/>
                </a:solidFill>
                <a:latin typeface="Arial"/>
                <a:ea typeface="Arial"/>
                <a:cs typeface="Arial"/>
                <a:sym typeface="Arial"/>
              </a:rPr>
              <a:t>CURRENT GAP</a:t>
            </a:r>
            <a:endParaRPr/>
          </a:p>
        </p:txBody>
      </p:sp>
      <p:sp>
        <p:nvSpPr>
          <p:cNvPr id="79" name="Google Shape;79;g3fa7a1dc19a_0_0"/>
          <p:cNvSpPr txBox="1"/>
          <p:nvPr/>
        </p:nvSpPr>
        <p:spPr>
          <a:xfrm>
            <a:off x="7662672" y="2514600"/>
            <a:ext cx="40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FF2A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/>
          </a:p>
        </p:txBody>
      </p:sp>
      <p:sp>
        <p:nvSpPr>
          <p:cNvPr id="80" name="Google Shape;80;g3fa7a1dc19a_0_0"/>
          <p:cNvSpPr txBox="1"/>
          <p:nvPr/>
        </p:nvSpPr>
        <p:spPr>
          <a:xfrm>
            <a:off x="502920" y="2999232"/>
            <a:ext cx="32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5"/>
                </a:solidFill>
                <a:latin typeface="Arial"/>
                <a:ea typeface="Arial"/>
                <a:cs typeface="Arial"/>
                <a:sym typeface="Arial"/>
              </a:rPr>
              <a:t>Redundant SFP infrastructure already exists.</a:t>
            </a:r>
            <a:endParaRPr/>
          </a:p>
        </p:txBody>
      </p:sp>
      <p:sp>
        <p:nvSpPr>
          <p:cNvPr id="81" name="Google Shape;81;g3fa7a1dc19a_0_0"/>
          <p:cNvSpPr txBox="1"/>
          <p:nvPr/>
        </p:nvSpPr>
        <p:spPr>
          <a:xfrm>
            <a:off x="502920" y="3584448"/>
            <a:ext cx="3246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  <a:t>Cisco documents dual-SFP uplinks for redundant connectivity to the network core. Perle also sells dual-SFP media converters with primary/backup fiber failover.</a:t>
            </a:r>
            <a:b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  <a:t>This means some deployments can leverage ports and fiber paths that are already provisioned rather than adding a new backup link solely for our feature.</a:t>
            </a:r>
            <a:endParaRPr/>
          </a:p>
        </p:txBody>
      </p:sp>
      <p:sp>
        <p:nvSpPr>
          <p:cNvPr id="82" name="Google Shape;82;g3fa7a1dc19a_0_0"/>
          <p:cNvSpPr txBox="1"/>
          <p:nvPr/>
        </p:nvSpPr>
        <p:spPr>
          <a:xfrm>
            <a:off x="4087368" y="2999232"/>
            <a:ext cx="315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5"/>
                </a:solidFill>
                <a:latin typeface="Arial"/>
                <a:ea typeface="Arial"/>
                <a:cs typeface="Arial"/>
                <a:sym typeface="Arial"/>
              </a:rPr>
              <a:t>Redundancy is usually reactive.</a:t>
            </a:r>
            <a:endParaRPr/>
          </a:p>
        </p:txBody>
      </p:sp>
      <p:sp>
        <p:nvSpPr>
          <p:cNvPr id="83" name="Google Shape;83;g3fa7a1dc19a_0_0"/>
          <p:cNvSpPr txBox="1"/>
          <p:nvPr/>
        </p:nvSpPr>
        <p:spPr>
          <a:xfrm>
            <a:off x="4087368" y="3584448"/>
            <a:ext cx="3154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  <a:t>Commercial redundancy products switch after link failure; Perle specifies failover when the primary link fails. Basic industrial converters from Advantech expose Link Fault Pass-through but only one fiber port.</a:t>
            </a:r>
            <a:b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  <a:t>Meanwhile, SFP DOM/DDM already exposes Rx/Tx optical power, temperature, voltage and laser-bias data.</a:t>
            </a:r>
            <a:endParaRPr/>
          </a:p>
        </p:txBody>
      </p:sp>
      <p:sp>
        <p:nvSpPr>
          <p:cNvPr id="84" name="Google Shape;84;g3fa7a1dc19a_0_0"/>
          <p:cNvSpPr txBox="1"/>
          <p:nvPr/>
        </p:nvSpPr>
        <p:spPr>
          <a:xfrm>
            <a:off x="7662672" y="2999232"/>
            <a:ext cx="397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5"/>
                </a:solidFill>
                <a:latin typeface="Arial"/>
                <a:ea typeface="Arial"/>
                <a:cs typeface="Arial"/>
                <a:sym typeface="Arial"/>
              </a:rPr>
              <a:t>Turn telemetry into proactive failover.</a:t>
            </a:r>
            <a:endParaRPr/>
          </a:p>
        </p:txBody>
      </p:sp>
      <p:sp>
        <p:nvSpPr>
          <p:cNvPr id="85" name="Google Shape;85;g3fa7a1dc19a_0_0"/>
          <p:cNvSpPr txBox="1"/>
          <p:nvPr/>
        </p:nvSpPr>
        <p:spPr>
          <a:xfrm>
            <a:off x="7662672" y="3584448"/>
            <a:ext cx="3977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  <a:t>Our controller continuously evaluates SFP health, applies thresholds/hysteresis, and coordinates both converter boards to move 1 Gb/s traffic to the standby path before a hard loss-of-signal event.</a:t>
            </a:r>
            <a:b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C8D1CC"/>
                </a:solidFill>
                <a:latin typeface="Arial"/>
                <a:ea typeface="Arial"/>
                <a:cs typeface="Arial"/>
                <a:sym typeface="Arial"/>
              </a:rPr>
              <a:t>Value proposition: use existing redundancy more intelligently, with little or no added optical-infrastructure cost where a backup SFP path is already deployed.</a:t>
            </a:r>
            <a:endParaRPr/>
          </a:p>
        </p:txBody>
      </p:sp>
      <p:sp>
        <p:nvSpPr>
          <p:cNvPr id="86" name="Google Shape;86;g3fa7a1dc19a_0_0"/>
          <p:cNvSpPr/>
          <p:nvPr/>
        </p:nvSpPr>
        <p:spPr>
          <a:xfrm>
            <a:off x="502920" y="5769864"/>
            <a:ext cx="11137500" cy="18300"/>
          </a:xfrm>
          <a:prstGeom prst="rect">
            <a:avLst/>
          </a:prstGeom>
          <a:solidFill>
            <a:srgbClr val="8FA19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a7a1dc19a_0_0"/>
          <p:cNvSpPr txBox="1"/>
          <p:nvPr/>
        </p:nvSpPr>
        <p:spPr>
          <a:xfrm>
            <a:off x="502920" y="5943600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FF2A"/>
                </a:solidFill>
                <a:latin typeface="Arial"/>
                <a:ea typeface="Arial"/>
                <a:cs typeface="Arial"/>
                <a:sym typeface="Arial"/>
              </a:rPr>
              <a:t>DIFFERENTIATION</a:t>
            </a:r>
            <a:endParaRPr/>
          </a:p>
        </p:txBody>
      </p:sp>
      <p:sp>
        <p:nvSpPr>
          <p:cNvPr id="88" name="Google Shape;88;g3fa7a1dc19a_0_0"/>
          <p:cNvSpPr txBox="1"/>
          <p:nvPr/>
        </p:nvSpPr>
        <p:spPr>
          <a:xfrm>
            <a:off x="502920" y="6236208"/>
            <a:ext cx="1101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8F5"/>
                </a:solidFill>
                <a:latin typeface="Arial"/>
                <a:ea typeface="Arial"/>
                <a:cs typeface="Arial"/>
                <a:sym typeface="Arial"/>
              </a:rPr>
              <a:t>Existing: “detect failure → switch”    →    Proposed: “detect degradation → switch before failure”</a:t>
            </a:r>
            <a:endParaRPr/>
          </a:p>
        </p:txBody>
      </p:sp>
      <p:sp>
        <p:nvSpPr>
          <p:cNvPr id="89" name="Google Shape;89;g3fa7a1dc19a_0_0"/>
          <p:cNvSpPr txBox="1"/>
          <p:nvPr/>
        </p:nvSpPr>
        <p:spPr>
          <a:xfrm>
            <a:off x="502920" y="6656832"/>
            <a:ext cx="1101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FA198"/>
                </a:solidFill>
                <a:latin typeface="Arial"/>
                <a:ea typeface="Arial"/>
                <a:cs typeface="Arial"/>
                <a:sym typeface="Arial"/>
              </a:rPr>
              <a:t>Research basis: Cisco dual-SFP uplink guidance + SFP DOM/DDM; Perle dual-fiber redundancy; Advantech Link Fault Pass-through.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</a:pPr>
            <a:r>
              <a:rPr b="0" i="0" lang="en-US"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architecture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00050" y="16764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Data path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00050" y="2076450"/>
            <a:ext cx="4619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Laptop traffic passes through the LAN96455F hardware switch. The active SFP pair carries user data and in-band management frames.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00050" y="3800475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Control path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00050" y="4200525"/>
            <a:ext cx="461962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Each STM32 reads local SFP diagnostics. Board A arbitrates the active path while Board B applies the coordinated port state.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905500" y="1724025"/>
            <a:ext cx="1238250" cy="514350"/>
          </a:xfrm>
          <a:prstGeom prst="roundRect">
            <a:avLst>
              <a:gd fmla="val 14815" name="adj"/>
            </a:avLst>
          </a:prstGeom>
          <a:solidFill>
            <a:srgbClr val="153D30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Laptop A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429250" y="2562225"/>
            <a:ext cx="2381250" cy="2533650"/>
          </a:xfrm>
          <a:prstGeom prst="roundRect">
            <a:avLst>
              <a:gd fmla="val 3200" name="adj"/>
            </a:avLst>
          </a:prstGeom>
          <a:solidFill>
            <a:srgbClr val="0B382A"/>
          </a:solidFill>
          <a:ln cap="flat" cmpd="sng" w="14275">
            <a:solidFill>
              <a:srgbClr val="6A93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028424" y="265747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3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BOARD A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619750" y="3048000"/>
            <a:ext cx="1285875" cy="723900"/>
          </a:xfrm>
          <a:prstGeom prst="roundRect">
            <a:avLst>
              <a:gd fmla="val 10526" name="adj"/>
            </a:avLst>
          </a:prstGeom>
          <a:solidFill>
            <a:srgbClr val="21483A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LAN96455F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Ethernet switch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029450" y="3048000"/>
            <a:ext cx="638175" cy="723900"/>
          </a:xfrm>
          <a:prstGeom prst="roundRect">
            <a:avLst>
              <a:gd fmla="val 11940" name="adj"/>
            </a:avLst>
          </a:prstGeom>
          <a:solidFill>
            <a:srgbClr val="315845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STM32N6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control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810250" y="4600575"/>
            <a:ext cx="1238250" cy="342900"/>
          </a:xfrm>
          <a:prstGeom prst="roundRect">
            <a:avLst>
              <a:gd fmla="val 22222" name="adj"/>
            </a:avLst>
          </a:prstGeom>
          <a:solidFill>
            <a:srgbClr val="5B4B20"/>
          </a:solidFill>
          <a:ln cap="flat" cmpd="sng" w="14275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SFP0 / SFP1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953625" y="1724025"/>
            <a:ext cx="1238250" cy="514350"/>
          </a:xfrm>
          <a:prstGeom prst="roundRect">
            <a:avLst>
              <a:gd fmla="val 14815" name="adj"/>
            </a:avLst>
          </a:prstGeom>
          <a:solidFill>
            <a:srgbClr val="153D30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Laptop B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9382125" y="2562225"/>
            <a:ext cx="2381250" cy="2533650"/>
          </a:xfrm>
          <a:prstGeom prst="roundRect">
            <a:avLst>
              <a:gd fmla="val 3200" name="adj"/>
            </a:avLst>
          </a:prstGeom>
          <a:solidFill>
            <a:srgbClr val="0B382A"/>
          </a:solidFill>
          <a:ln cap="flat" cmpd="sng" w="14275">
            <a:solidFill>
              <a:srgbClr val="6A93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981299" y="265747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3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BOARD B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9572625" y="3048000"/>
            <a:ext cx="1285875" cy="723900"/>
          </a:xfrm>
          <a:prstGeom prst="roundRect">
            <a:avLst>
              <a:gd fmla="val 10526" name="adj"/>
            </a:avLst>
          </a:prstGeom>
          <a:solidFill>
            <a:srgbClr val="21483A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LAN96455F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Ethernet switch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0982325" y="3048000"/>
            <a:ext cx="638175" cy="723900"/>
          </a:xfrm>
          <a:prstGeom prst="roundRect">
            <a:avLst>
              <a:gd fmla="val 11940" name="adj"/>
            </a:avLst>
          </a:prstGeom>
          <a:solidFill>
            <a:srgbClr val="315845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STM32N6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control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9763125" y="4600575"/>
            <a:ext cx="1238250" cy="342900"/>
          </a:xfrm>
          <a:prstGeom prst="roundRect">
            <a:avLst>
              <a:gd fmla="val 22222" name="adj"/>
            </a:avLst>
          </a:prstGeom>
          <a:solidFill>
            <a:srgbClr val="5B4B20"/>
          </a:solidFill>
          <a:ln cap="flat" cmpd="sng" w="14275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SFP0 / SFP1</a:t>
            </a:r>
            <a:endParaRPr/>
          </a:p>
        </p:txBody>
      </p:sp>
      <p:cxnSp>
        <p:nvCxnSpPr>
          <p:cNvPr id="112" name="Google Shape;112;p3"/>
          <p:cNvCxnSpPr>
            <a:stCxn id="100" idx="2"/>
            <a:endCxn id="103" idx="0"/>
          </p:cNvCxnSpPr>
          <p:nvPr/>
        </p:nvCxnSpPr>
        <p:spPr>
          <a:xfrm rot="5400000">
            <a:off x="5988825" y="2512275"/>
            <a:ext cx="809700" cy="2619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19050">
            <a:solidFill>
              <a:srgbClr val="35C4B1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3" name="Google Shape;113;p3"/>
          <p:cNvCxnSpPr>
            <a:stCxn id="106" idx="2"/>
            <a:endCxn id="109" idx="0"/>
          </p:cNvCxnSpPr>
          <p:nvPr/>
        </p:nvCxnSpPr>
        <p:spPr>
          <a:xfrm rot="5400000">
            <a:off x="9989250" y="2464575"/>
            <a:ext cx="809700" cy="3573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19050">
            <a:solidFill>
              <a:srgbClr val="35C4B1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4" name="Google Shape;114;p3"/>
          <p:cNvCxnSpPr>
            <a:stCxn id="104" idx="1"/>
            <a:endCxn id="103" idx="3"/>
          </p:cNvCxnSpPr>
          <p:nvPr/>
        </p:nvCxnSpPr>
        <p:spPr>
          <a:xfrm rot="10800000">
            <a:off x="6905550" y="3409950"/>
            <a:ext cx="123900" cy="0"/>
          </a:xfrm>
          <a:prstGeom prst="straightConnector1">
            <a:avLst/>
          </a:prstGeom>
          <a:noFill/>
          <a:ln cap="flat" cmpd="sng" w="14275">
            <a:solidFill>
              <a:srgbClr val="8AAB9E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5" name="Google Shape;115;p3"/>
          <p:cNvCxnSpPr>
            <a:stCxn id="110" idx="1"/>
            <a:endCxn id="109" idx="3"/>
          </p:cNvCxnSpPr>
          <p:nvPr/>
        </p:nvCxnSpPr>
        <p:spPr>
          <a:xfrm rot="10800000">
            <a:off x="10858425" y="3409950"/>
            <a:ext cx="123900" cy="0"/>
          </a:xfrm>
          <a:prstGeom prst="straightConnector1">
            <a:avLst/>
          </a:prstGeom>
          <a:noFill/>
          <a:ln cap="flat" cmpd="sng" w="14275">
            <a:solidFill>
              <a:srgbClr val="8AAB9E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6" name="Google Shape;116;p3"/>
          <p:cNvCxnSpPr>
            <a:stCxn id="103" idx="2"/>
            <a:endCxn id="105" idx="0"/>
          </p:cNvCxnSpPr>
          <p:nvPr/>
        </p:nvCxnSpPr>
        <p:spPr>
          <a:xfrm flipH="1" rot="-5400000">
            <a:off x="5931788" y="4102800"/>
            <a:ext cx="828600" cy="1668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19050">
            <a:solidFill>
              <a:srgbClr val="35C4B1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7" name="Google Shape;117;p3"/>
          <p:cNvCxnSpPr>
            <a:stCxn id="109" idx="2"/>
            <a:endCxn id="111" idx="0"/>
          </p:cNvCxnSpPr>
          <p:nvPr/>
        </p:nvCxnSpPr>
        <p:spPr>
          <a:xfrm flipH="1" rot="-5400000">
            <a:off x="9884663" y="4102800"/>
            <a:ext cx="828600" cy="1668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19050">
            <a:solidFill>
              <a:srgbClr val="35C4B1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8" name="Google Shape;118;p3"/>
          <p:cNvCxnSpPr>
            <a:stCxn id="105" idx="3"/>
            <a:endCxn id="111" idx="1"/>
          </p:cNvCxnSpPr>
          <p:nvPr/>
        </p:nvCxnSpPr>
        <p:spPr>
          <a:xfrm>
            <a:off x="7048500" y="4772025"/>
            <a:ext cx="2714700" cy="0"/>
          </a:xfrm>
          <a:prstGeom prst="straightConnector1">
            <a:avLst/>
          </a:prstGeom>
          <a:noFill/>
          <a:ln cap="flat" cmpd="sng" w="28575">
            <a:solidFill>
              <a:srgbClr val="35C4B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9" name="Google Shape;119;p3"/>
          <p:cNvSpPr/>
          <p:nvPr/>
        </p:nvSpPr>
        <p:spPr>
          <a:xfrm>
            <a:off x="7639050" y="423862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7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PRIMARY AND BACKUP 1000BASE-SX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734300" y="4953000"/>
            <a:ext cx="1809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Full duplex fiber pairs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</a:pPr>
            <a:r>
              <a:rPr b="0" i="0" lang="en-US"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architecture</a:t>
            </a:r>
            <a:endParaRPr/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235" y="867753"/>
            <a:ext cx="9771529" cy="517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</a:pPr>
            <a:r>
              <a:rPr b="0" i="0" lang="en-US"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architecture</a:t>
            </a:r>
            <a:endParaRPr/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97025"/>
            <a:ext cx="12192000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</a:pPr>
            <a:r>
              <a:rPr b="0" i="0" lang="en-US"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Implementation plan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00050" y="1762125"/>
            <a:ext cx="4762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7F34A"/>
                </a:solidFill>
                <a:latin typeface="Inter"/>
                <a:ea typeface="Inter"/>
                <a:cs typeface="Inter"/>
                <a:sym typeface="Inter"/>
              </a:rPr>
              <a:t>Critical path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00050" y="2276475"/>
            <a:ext cx="4857750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1  Freeze interfaces, straps, power rails, clocks, and component selections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C5D6C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2  Complete schematic review and controlled-impedance PCB layout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C5D6C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3  Bring up power, STM32 boot flash, switch management, copper ports, and each SFP 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C5D6C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5D6CD"/>
                </a:solidFill>
                <a:latin typeface="Inter"/>
                <a:ea typeface="Inter"/>
                <a:cs typeface="Inter"/>
                <a:sym typeface="Inter"/>
              </a:rPr>
              <a:t>4  Add telemetry thresholds, coordinated failover, and repeatable fault injection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238875" y="1724025"/>
            <a:ext cx="5553075" cy="1695450"/>
          </a:xfrm>
          <a:prstGeom prst="roundRect">
            <a:avLst>
              <a:gd fmla="val 4494" name="adj"/>
            </a:avLst>
          </a:prstGeom>
          <a:solidFill>
            <a:srgbClr val="21483A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HARDWARE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F7FB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STM32N6 boot and debug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LAN96455F unmanaged boot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RGMII and 1000BASE-X routing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SFP power and diagnostics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238875" y="3762375"/>
            <a:ext cx="5553075" cy="1695450"/>
          </a:xfrm>
          <a:prstGeom prst="roundRect">
            <a:avLst>
              <a:gd fmla="val 4494" name="adj"/>
            </a:avLst>
          </a:prstGeom>
          <a:solidFill>
            <a:srgbClr val="21483A"/>
          </a:solidFill>
          <a:ln cap="flat" cmpd="sng" w="14275">
            <a:solidFill>
              <a:srgbClr val="43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FIRMWARE AND VALIDATION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F7FB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SPI switch control and SFP I²C reads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Health scoring and hysteresis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Cross-board arbitration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7FBF8"/>
                </a:solidFill>
                <a:latin typeface="Inter"/>
                <a:ea typeface="Inter"/>
                <a:cs typeface="Inter"/>
                <a:sym typeface="Inter"/>
              </a:rPr>
              <a:t>Traffic and failover measurements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7833152" y="2134181"/>
            <a:ext cx="3568700" cy="3709944"/>
          </a:xfrm>
          <a:prstGeom prst="roundRect">
            <a:avLst>
              <a:gd fmla="val 3585" name="adj"/>
            </a:avLst>
          </a:prstGeom>
          <a:solidFill>
            <a:srgbClr val="2846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7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None/>
            </a:pPr>
            <a:r>
              <a:rPr b="0" i="0" lang="en-US"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Working timeline to the December 8 expo</a:t>
            </a:r>
            <a:endParaRPr/>
          </a:p>
        </p:txBody>
      </p:sp>
      <p:cxnSp>
        <p:nvCxnSpPr>
          <p:cNvPr id="154" name="Google Shape;154;p7"/>
          <p:cNvCxnSpPr>
            <a:stCxn id="155" idx="2"/>
          </p:cNvCxnSpPr>
          <p:nvPr/>
        </p:nvCxnSpPr>
        <p:spPr>
          <a:xfrm>
            <a:off x="337718" y="3373753"/>
            <a:ext cx="11401500" cy="300"/>
          </a:xfrm>
          <a:prstGeom prst="straightConnector1">
            <a:avLst/>
          </a:prstGeom>
          <a:noFill/>
          <a:ln cap="flat" cmpd="sng" w="12700">
            <a:solidFill>
              <a:srgbClr val="BCEF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7"/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rgbClr val="BCEF59"/>
          </a:solidFill>
          <a:ln cap="flat" cmpd="sng" w="9525">
            <a:solidFill>
              <a:srgbClr val="BCE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rgbClr val="BCEF59"/>
          </a:solidFill>
          <a:ln cap="flat" cmpd="sng" w="9525">
            <a:solidFill>
              <a:srgbClr val="BCE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rgbClr val="BCEF59"/>
          </a:solidFill>
          <a:ln cap="flat" cmpd="sng" w="9525">
            <a:solidFill>
              <a:srgbClr val="BCE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93700" y="2843266"/>
            <a:ext cx="1612900" cy="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BCEF5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BCEF5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 8–30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294187" y="2843266"/>
            <a:ext cx="1612900" cy="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BCEF5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BCEF5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OCT 1–NOV 15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223249" y="2843266"/>
            <a:ext cx="1612900" cy="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BCEF5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BCEF5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NOV 16–DEC 8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PCB and bring-up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Fabrication, assembly, rail checks, STM32 boot, switch access, and individual links.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99873" y="3822700"/>
            <a:ext cx="3156125" cy="15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Architecture and schematic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Freeze parts, interfaces, boot straps, power tree, schematic pages, and layout.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Integration and demo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Telemetry thresholds, coordinated failover, traffic testing, enclosure, and presentation rehearsal.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2026-09-08T17:05:40Z</dcterms:created>
  <dc:creator>Walnut Exporter</dc:creator>
</cp:coreProperties>
</file>